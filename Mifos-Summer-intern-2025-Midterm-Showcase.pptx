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8" r:id="rId1"/>
  </p:sldMasterIdLst>
  <p:notesMasterIdLst>
    <p:notesMasterId r:id="rId20"/>
  </p:notesMasterIdLst>
  <p:sldIdLst>
    <p:sldId id="256" r:id="rId2"/>
    <p:sldId id="257" r:id="rId3"/>
    <p:sldId id="267" r:id="rId4"/>
    <p:sldId id="258" r:id="rId5"/>
    <p:sldId id="268" r:id="rId6"/>
    <p:sldId id="269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59" r:id="rId15"/>
    <p:sldId id="264" r:id="rId16"/>
    <p:sldId id="271" r:id="rId17"/>
    <p:sldId id="262" r:id="rId18"/>
    <p:sldId id="263" r:id="rId19"/>
  </p:sldIdLst>
  <p:sldSz cx="14630400" cy="8229600"/>
  <p:notesSz cx="8229600" cy="14630400"/>
  <p:embeddedFontLst>
    <p:embeddedFont>
      <p:font typeface="DM Sans Semi Bold" panose="020B0604020202020204" charset="0"/>
      <p:regular r:id="rId21"/>
    </p:embeddedFont>
    <p:embeddedFont>
      <p:font typeface="Inter Medium" panose="020B0604020202020204" charset="0"/>
      <p:regular r:id="rId22"/>
    </p:embeddedFont>
    <p:embeddedFont>
      <p:font typeface="Roboto" panose="02000000000000000000" pitchFamily="2" charset="0"/>
      <p:regular r:id="rId23"/>
      <p:bold r:id="rId24"/>
      <p:italic r:id="rId25"/>
      <p:boldItalic r:id="rId26"/>
    </p:embeddedFont>
    <p:embeddedFont>
      <p:font typeface="Roboto Medium" panose="02000000000000000000" pitchFamily="2" charset="0"/>
      <p:regular r:id="rId27"/>
      <p:italic r:id="rId2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D0FB78-4CCC-4D08-A942-AC1F3BEC627A}" v="3" dt="2025-07-30T17:45:57.4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7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vanth J" userId="60b42fbfd743b862" providerId="LiveId" clId="{88D0FB78-4CCC-4D08-A942-AC1F3BEC627A}"/>
    <pc:docChg chg="undo custSel modSld">
      <pc:chgData name="Revanth J" userId="60b42fbfd743b862" providerId="LiveId" clId="{88D0FB78-4CCC-4D08-A942-AC1F3BEC627A}" dt="2025-07-30T17:54:05.747" v="74" actId="1076"/>
      <pc:docMkLst>
        <pc:docMk/>
      </pc:docMkLst>
      <pc:sldChg chg="addSp delSp modSp mod">
        <pc:chgData name="Revanth J" userId="60b42fbfd743b862" providerId="LiveId" clId="{88D0FB78-4CCC-4D08-A942-AC1F3BEC627A}" dt="2025-07-30T17:45:08.661" v="24" actId="14100"/>
        <pc:sldMkLst>
          <pc:docMk/>
          <pc:sldMk cId="0" sldId="267"/>
        </pc:sldMkLst>
        <pc:spChg chg="mod">
          <ac:chgData name="Revanth J" userId="60b42fbfd743b862" providerId="LiveId" clId="{88D0FB78-4CCC-4D08-A942-AC1F3BEC627A}" dt="2025-07-30T17:40:18.836" v="15" actId="14100"/>
          <ac:spMkLst>
            <pc:docMk/>
            <pc:sldMk cId="0" sldId="267"/>
            <ac:spMk id="6" creationId="{00000000-0000-0000-0000-000000000000}"/>
          </ac:spMkLst>
        </pc:spChg>
        <pc:spChg chg="mod">
          <ac:chgData name="Revanth J" userId="60b42fbfd743b862" providerId="LiveId" clId="{88D0FB78-4CCC-4D08-A942-AC1F3BEC627A}" dt="2025-07-30T17:45:08.661" v="24" actId="14100"/>
          <ac:spMkLst>
            <pc:docMk/>
            <pc:sldMk cId="0" sldId="267"/>
            <ac:spMk id="8" creationId="{00000000-0000-0000-0000-000000000000}"/>
          </ac:spMkLst>
        </pc:spChg>
        <pc:picChg chg="del">
          <ac:chgData name="Revanth J" userId="60b42fbfd743b862" providerId="LiveId" clId="{88D0FB78-4CCC-4D08-A942-AC1F3BEC627A}" dt="2025-07-30T17:37:41.760" v="0" actId="478"/>
          <ac:picMkLst>
            <pc:docMk/>
            <pc:sldMk cId="0" sldId="267"/>
            <ac:picMk id="7" creationId="{00000000-0000-0000-0000-000000000000}"/>
          </ac:picMkLst>
        </pc:picChg>
        <pc:picChg chg="del mod">
          <ac:chgData name="Revanth J" userId="60b42fbfd743b862" providerId="LiveId" clId="{88D0FB78-4CCC-4D08-A942-AC1F3BEC627A}" dt="2025-07-30T17:39:56.034" v="10" actId="478"/>
          <ac:picMkLst>
            <pc:docMk/>
            <pc:sldMk cId="0" sldId="267"/>
            <ac:picMk id="16" creationId="{020D12D6-5B61-A9FE-CB5C-2C231246CEA0}"/>
          </ac:picMkLst>
        </pc:picChg>
        <pc:picChg chg="add del mod">
          <ac:chgData name="Revanth J" userId="60b42fbfd743b862" providerId="LiveId" clId="{88D0FB78-4CCC-4D08-A942-AC1F3BEC627A}" dt="2025-07-30T17:44:53.596" v="20" actId="478"/>
          <ac:picMkLst>
            <pc:docMk/>
            <pc:sldMk cId="0" sldId="267"/>
            <ac:picMk id="18" creationId="{8626043B-4505-9ACD-E267-7F7840EC68B8}"/>
          </ac:picMkLst>
        </pc:picChg>
        <pc:picChg chg="add mod">
          <ac:chgData name="Revanth J" userId="60b42fbfd743b862" providerId="LiveId" clId="{88D0FB78-4CCC-4D08-A942-AC1F3BEC627A}" dt="2025-07-30T17:40:14.757" v="14" actId="1076"/>
          <ac:picMkLst>
            <pc:docMk/>
            <pc:sldMk cId="0" sldId="267"/>
            <ac:picMk id="20" creationId="{CCCB47AE-3470-E38B-B780-16F36C8D4490}"/>
          </ac:picMkLst>
        </pc:picChg>
        <pc:picChg chg="add mod">
          <ac:chgData name="Revanth J" userId="60b42fbfd743b862" providerId="LiveId" clId="{88D0FB78-4CCC-4D08-A942-AC1F3BEC627A}" dt="2025-07-30T17:45:02.107" v="23" actId="1076"/>
          <ac:picMkLst>
            <pc:docMk/>
            <pc:sldMk cId="0" sldId="267"/>
            <ac:picMk id="22" creationId="{7ED38FBB-3BD5-635D-3F3A-BF8AA7E47C84}"/>
          </ac:picMkLst>
        </pc:picChg>
      </pc:sldChg>
      <pc:sldChg chg="addSp delSp modSp mod">
        <pc:chgData name="Revanth J" userId="60b42fbfd743b862" providerId="LiveId" clId="{88D0FB78-4CCC-4D08-A942-AC1F3BEC627A}" dt="2025-07-30T17:54:05.747" v="74" actId="1076"/>
        <pc:sldMkLst>
          <pc:docMk/>
          <pc:sldMk cId="0" sldId="268"/>
        </pc:sldMkLst>
        <pc:picChg chg="add mod">
          <ac:chgData name="Revanth J" userId="60b42fbfd743b862" providerId="LiveId" clId="{88D0FB78-4CCC-4D08-A942-AC1F3BEC627A}" dt="2025-07-30T17:53:49.048" v="71" actId="14100"/>
          <ac:picMkLst>
            <pc:docMk/>
            <pc:sldMk cId="0" sldId="268"/>
            <ac:picMk id="18" creationId="{BB717135-5A29-4DB8-0339-8C5038B7F312}"/>
          </ac:picMkLst>
        </pc:picChg>
        <pc:picChg chg="add mod">
          <ac:chgData name="Revanth J" userId="60b42fbfd743b862" providerId="LiveId" clId="{88D0FB78-4CCC-4D08-A942-AC1F3BEC627A}" dt="2025-07-30T17:54:05.747" v="74" actId="1076"/>
          <ac:picMkLst>
            <pc:docMk/>
            <pc:sldMk cId="0" sldId="268"/>
            <ac:picMk id="20" creationId="{1B28F86C-756C-4CB8-D08A-9F2979DC5F4A}"/>
          </ac:picMkLst>
        </pc:picChg>
        <pc:picChg chg="add del mod">
          <ac:chgData name="Revanth J" userId="60b42fbfd743b862" providerId="LiveId" clId="{88D0FB78-4CCC-4D08-A942-AC1F3BEC627A}" dt="2025-07-30T17:46:51.683" v="35" actId="478"/>
          <ac:picMkLst>
            <pc:docMk/>
            <pc:sldMk cId="0" sldId="268"/>
            <ac:picMk id="22" creationId="{0DE7E4BC-F1CE-ECF2-D050-AC883DA3519F}"/>
          </ac:picMkLst>
        </pc:picChg>
        <pc:picChg chg="add del mod">
          <ac:chgData name="Revanth J" userId="60b42fbfd743b862" providerId="LiveId" clId="{88D0FB78-4CCC-4D08-A942-AC1F3BEC627A}" dt="2025-07-30T17:52:14.459" v="50" actId="478"/>
          <ac:picMkLst>
            <pc:docMk/>
            <pc:sldMk cId="0" sldId="268"/>
            <ac:picMk id="24" creationId="{D29C44AD-7AAC-3077-CEF7-C0224FF41DFF}"/>
          </ac:picMkLst>
        </pc:picChg>
        <pc:picChg chg="add mod">
          <ac:chgData name="Revanth J" userId="60b42fbfd743b862" providerId="LiveId" clId="{88D0FB78-4CCC-4D08-A942-AC1F3BEC627A}" dt="2025-07-30T17:53:39.661" v="67" actId="14100"/>
          <ac:picMkLst>
            <pc:docMk/>
            <pc:sldMk cId="0" sldId="268"/>
            <ac:picMk id="26" creationId="{22BDDD92-96EE-FACB-D75F-4CD2A1FF0B2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0483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F0B6C-7C7E-CF89-1270-EBF35C020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AED53C-1F3B-ABE1-440D-D98820483A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AA2C22-570E-A67B-6ABD-6B5A11EDBA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7962B2-ECF0-1FEE-70C6-1E93FAFEEF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680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E5E38-2106-B3B5-5E89-0C57C14C3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CCA0AD-E241-5969-6FE4-B15B7815DC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7D5BF3-4587-1C4D-C775-0CEC664E52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1412EC-00E4-8889-BA63-281F0F002D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9537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5835B-3765-CFDE-04D0-758A72056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AE827-3352-38DF-C777-D6B8289BF2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179B9A-6B36-EC57-F5DB-F6CFEC0E7C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223C84-D568-BA2C-78FB-7B2EA8288F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6263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EBBFE-1F69-6B28-362F-11E723B66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23E64E-2C8C-D9C0-48E5-60085CBBF7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9C3907-CF0D-214E-765F-0A91DC5CEF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612DD8-B33D-B5F5-7843-BE97F6D159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2130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AEABD-BBED-4C76-7B6E-F3A3C5672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0A59E3-D5FB-099D-1965-51BD5E8189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E86A4B-E5B7-5573-63F7-6BAD146B26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1ED893-60FF-6A0E-C723-322461E6C8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8686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DDF96-875B-D3B8-F2E9-E22D25B17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3D5B8B-4B02-92C4-7F65-CEDE5EEAD3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001AB9-291E-A58B-B302-4F65B85172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EF16C-398D-9778-5A78-B3801345BA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2920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2792D-1260-FCDC-1A6A-B757B60A1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EAE6F9-3EA4-CA09-6733-995A48CBC3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F14C31-C106-3748-BCC6-FF892A1C46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D28538-FF1D-E758-1C59-75D248A37F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2031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140BB-F003-D419-1FF2-32B878FA4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C27663-61BE-3499-A296-F63FEE0CDD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1F220C-FB4E-3D0C-BA3B-CBB92B2990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A773B2-3712-FAFB-4A42-8F43849449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7879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623370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55446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540451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12212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7/31/2025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90321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7/31/2025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158969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7/31/2025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54294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13876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03273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79645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342231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15987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84014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78895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8958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84720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7428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1289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6" r:id="rId16"/>
    <p:sldLayoutId id="2147483677" r:id="rId17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256401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Mifos Summer Intern 2025 – Midterm Showcase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321731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IN" dirty="0"/>
              <a:t>Mifos Mobile - End User Application v8.0</a:t>
            </a:r>
          </a:p>
        </p:txBody>
      </p:sp>
      <p:sp>
        <p:nvSpPr>
          <p:cNvPr id="5" name="Text 2"/>
          <p:cNvSpPr/>
          <p:nvPr/>
        </p:nvSpPr>
        <p:spPr>
          <a:xfrm>
            <a:off x="793790" y="530268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Midterm Presentation by B. Nagarjuna</a:t>
            </a:r>
            <a:endParaRPr lang="en-US" sz="1750" dirty="0"/>
          </a:p>
        </p:txBody>
      </p:sp>
      <p:pic>
        <p:nvPicPr>
          <p:cNvPr id="1028" name="Picture 4" descr="Sponsors – OpenWallet Foundation">
            <a:extLst>
              <a:ext uri="{FF2B5EF4-FFF2-40B4-BE49-F238E27FC236}">
                <a16:creationId xmlns:a16="http://schemas.microsoft.com/office/drawing/2014/main" id="{158CB91B-1B4C-3E21-E184-1AD0DD081C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7077" y="1280396"/>
            <a:ext cx="7622757" cy="3293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F3170BD-C2EC-C422-2159-114A941F07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8363" y="5047536"/>
            <a:ext cx="5677294" cy="24347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8550" y="49470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Project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78610" y="14947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Project Scope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63310" y="2014621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dirty="0"/>
              <a:t>Scheduled Payments: Allow users to schedule recurring payments and transfers.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63310" y="2819722"/>
            <a:ext cx="108015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dirty="0"/>
              <a:t> Transaction Categorization: Automatic categorization of expenses for better financial tracking.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63310" y="326192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dirty="0"/>
              <a:t> Redesign Dashboard with given Figma designs and Customizable Dashboard: Let users arrange and prioritize frequently used features.</a:t>
            </a:r>
          </a:p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dirty="0"/>
              <a:t>In-App Customer Support: Real-time chat and customer support for immediate user assistance.</a:t>
            </a:r>
          </a:p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dirty="0"/>
              <a:t>Release on IOS, Desktop platform</a:t>
            </a:r>
          </a:p>
          <a:p>
            <a:pPr marL="342900" indent="-342900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050429" y="47363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Midterm Goals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0429" y="523237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Migrate the project to KMP and CMP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050429" y="5754083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Redesign entire application adopting new </a:t>
            </a:r>
            <a:r>
              <a:rPr lang="en-US" sz="1750" dirty="0" err="1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ui</a:t>
            </a: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design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050429" y="633529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Resolve major bugs in existing codebase.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83103" y="4779407"/>
            <a:ext cx="30480" cy="2270760"/>
          </a:xfrm>
          <a:prstGeom prst="rect">
            <a:avLst/>
          </a:prstGeom>
          <a:solidFill>
            <a:srgbClr val="1C977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8710" y="485894"/>
            <a:ext cx="6926580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700"/>
              </a:lnSpc>
              <a:buNone/>
            </a:pPr>
            <a:r>
              <a:rPr lang="en-US" sz="2950" dirty="0">
                <a:solidFill>
                  <a:srgbClr val="002060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Kotlin Multiplatform Powering </a:t>
            </a:r>
            <a:r>
              <a:rPr lang="en-US" sz="29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the Future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533281" y="1190625"/>
            <a:ext cx="8077438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50"/>
              </a:lnSpc>
              <a:buNone/>
            </a:pPr>
            <a:r>
              <a:rPr lang="en-US" sz="2350" dirty="0">
                <a:solidFill>
                  <a:srgbClr val="0070C0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Write Once, Run Everywhere: Android • iOS • Web • JS • WASM</a:t>
            </a:r>
            <a:endParaRPr lang="en-US" sz="2350" dirty="0">
              <a:solidFill>
                <a:srgbClr val="0070C0"/>
              </a:solidFill>
            </a:endParaRPr>
          </a:p>
        </p:txBody>
      </p:sp>
      <p:sp>
        <p:nvSpPr>
          <p:cNvPr id="6" name="Text 2"/>
          <p:cNvSpPr/>
          <p:nvPr/>
        </p:nvSpPr>
        <p:spPr>
          <a:xfrm>
            <a:off x="533282" y="6376630"/>
            <a:ext cx="1610076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150" dirty="0">
                <a:latin typeface="Roboto" pitchFamily="34" charset="0"/>
                <a:ea typeface="Roboto" pitchFamily="34" charset="-122"/>
                <a:cs typeface="Roboto" pitchFamily="34" charset="-120"/>
              </a:rPr>
              <a:t>Android &amp; iOS</a:t>
            </a:r>
            <a:endParaRPr lang="en-US" sz="1150" dirty="0"/>
          </a:p>
        </p:txBody>
      </p:sp>
      <p:sp>
        <p:nvSpPr>
          <p:cNvPr id="8" name="Text 3"/>
          <p:cNvSpPr/>
          <p:nvPr/>
        </p:nvSpPr>
        <p:spPr>
          <a:xfrm>
            <a:off x="2470683" y="6376630"/>
            <a:ext cx="6147658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150" dirty="0">
                <a:latin typeface="Roboto" pitchFamily="34" charset="0"/>
                <a:ea typeface="Roboto" pitchFamily="34" charset="-122"/>
                <a:cs typeface="Roboto" pitchFamily="34" charset="-120"/>
              </a:rPr>
              <a:t>Web &amp; JS &amp; WASM</a:t>
            </a:r>
            <a:endParaRPr lang="en-US" sz="1150" dirty="0"/>
          </a:p>
        </p:txBody>
      </p:sp>
      <p:sp>
        <p:nvSpPr>
          <p:cNvPr id="9" name="Shape 4"/>
          <p:cNvSpPr/>
          <p:nvPr/>
        </p:nvSpPr>
        <p:spPr>
          <a:xfrm>
            <a:off x="533281" y="7004921"/>
            <a:ext cx="8077438" cy="26551"/>
          </a:xfrm>
          <a:prstGeom prst="rect">
            <a:avLst/>
          </a:prstGeom>
          <a:solidFill>
            <a:srgbClr val="CFD0D8">
              <a:alpha val="50000"/>
            </a:srgbClr>
          </a:solidFill>
          <a:ln/>
        </p:spPr>
      </p:sp>
      <p:sp>
        <p:nvSpPr>
          <p:cNvPr id="10" name="Text 5"/>
          <p:cNvSpPr/>
          <p:nvPr/>
        </p:nvSpPr>
        <p:spPr>
          <a:xfrm>
            <a:off x="533281" y="7202686"/>
            <a:ext cx="8077438" cy="243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latin typeface="Roboto" pitchFamily="34" charset="0"/>
                <a:ea typeface="Roboto" pitchFamily="34" charset="-122"/>
                <a:cs typeface="Roboto" pitchFamily="34" charset="-120"/>
              </a:rPr>
              <a:t>Shared business logic across platforms, enabling consistent behavior and faster development cycles.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533281" y="7499747"/>
            <a:ext cx="8077438" cy="243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latin typeface="Roboto" pitchFamily="34" charset="0"/>
                <a:ea typeface="Roboto" pitchFamily="34" charset="-122"/>
                <a:cs typeface="Roboto" pitchFamily="34" charset="-120"/>
              </a:rPr>
              <a:t>Native UI for each target, ensuring optimal user experience and performance on every device.</a:t>
            </a:r>
            <a:endParaRPr lang="en-US" sz="1150" dirty="0"/>
          </a:p>
        </p:txBody>
      </p:sp>
      <p:sp>
        <p:nvSpPr>
          <p:cNvPr id="13" name="AutoShape 4">
            <a:extLst>
              <a:ext uri="{FF2B5EF4-FFF2-40B4-BE49-F238E27FC236}">
                <a16:creationId xmlns:a16="http://schemas.microsoft.com/office/drawing/2014/main" id="{EC867DD9-E3F4-2B25-0DBF-6A1D8B312F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28" name="Picture 4" descr="image">
            <a:extLst>
              <a:ext uri="{FF2B5EF4-FFF2-40B4-BE49-F238E27FC236}">
                <a16:creationId xmlns:a16="http://schemas.microsoft.com/office/drawing/2014/main" id="{D2DAE25C-0867-09AC-3C10-5DF855C849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4638" y="2291980"/>
            <a:ext cx="6530930" cy="3673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45A5F049-58B9-1D61-A9F4-0C8A1C30D2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87" y="2123839"/>
            <a:ext cx="1978171" cy="4163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3609"/>
            <a:ext cx="1117568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Modules Migrated to Kotlin Multiplatform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1601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All modules were migrated with commonMain, androidMain, iosMain folder structures and expect/actual logic where needed.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63310" y="3396972"/>
            <a:ext cx="121920" cy="3578900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</p:sp>
      <p:sp>
        <p:nvSpPr>
          <p:cNvPr id="6" name="Text 4"/>
          <p:cNvSpPr/>
          <p:nvPr/>
        </p:nvSpPr>
        <p:spPr>
          <a:xfrm>
            <a:off x="1142524" y="36542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Core Modules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2524" y="4144685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 #2735  core-logs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142524" y="4586883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 #2739  core-network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142524" y="5029081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 #2747  core-data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142524" y="5471279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850"/>
              </a:lnSpc>
              <a:buSzPct val="100000"/>
            </a:pP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428548" y="3396972"/>
            <a:ext cx="6408063" cy="4482432"/>
          </a:xfrm>
          <a:prstGeom prst="roundRect">
            <a:avLst>
              <a:gd name="adj" fmla="val 4088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2" name="Shape 10"/>
          <p:cNvSpPr/>
          <p:nvPr/>
        </p:nvSpPr>
        <p:spPr>
          <a:xfrm>
            <a:off x="7398067" y="3396971"/>
            <a:ext cx="45719" cy="4404611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</p:sp>
      <p:sp>
        <p:nvSpPr>
          <p:cNvPr id="13" name="Text 11"/>
          <p:cNvSpPr/>
          <p:nvPr/>
        </p:nvSpPr>
        <p:spPr>
          <a:xfrm>
            <a:off x="7777282" y="36542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Feature Modules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777282" y="4144685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 #2772  feature-auth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777282" y="4586883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 #2785  feature-home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777282" y="5029081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 #2786  feature-loan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777282" y="5471279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 #2799  feature-</a:t>
            </a:r>
            <a:r>
              <a:rPr lang="en-US" sz="1750" dirty="0" err="1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clientCharge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777282" y="5875088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 #2801  feature-</a:t>
            </a:r>
            <a:r>
              <a:rPr lang="en-US" sz="1750" dirty="0" err="1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tpt</a:t>
            </a: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	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777282" y="6355675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1CCD85-1AD3-994B-6870-413EFF3C9CD9}"/>
              </a:ext>
            </a:extLst>
          </p:cNvPr>
          <p:cNvSpPr txBox="1"/>
          <p:nvPr/>
        </p:nvSpPr>
        <p:spPr>
          <a:xfrm>
            <a:off x="1051083" y="5391984"/>
            <a:ext cx="7315200" cy="430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8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 #2751 core-</a:t>
            </a:r>
            <a:r>
              <a:rPr lang="en-US" dirty="0" err="1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QrCode</a:t>
            </a:r>
            <a:endParaRPr lang="en-US" sz="1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BEDDACE-925A-2E78-2039-2018844A64CA}"/>
              </a:ext>
            </a:extLst>
          </p:cNvPr>
          <p:cNvSpPr txBox="1"/>
          <p:nvPr/>
        </p:nvSpPr>
        <p:spPr>
          <a:xfrm>
            <a:off x="7690239" y="6237106"/>
            <a:ext cx="7315200" cy="430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8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 #2803  feature-</a:t>
            </a:r>
            <a:r>
              <a:rPr lang="en-US" sz="1800" dirty="0" err="1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transferProcess</a:t>
            </a:r>
            <a:endParaRPr lang="en-US" sz="18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3D3F54-1CA4-D998-3275-95D9069B4A23}"/>
              </a:ext>
            </a:extLst>
          </p:cNvPr>
          <p:cNvSpPr txBox="1"/>
          <p:nvPr/>
        </p:nvSpPr>
        <p:spPr>
          <a:xfrm>
            <a:off x="7690239" y="6612576"/>
            <a:ext cx="7504888" cy="1174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2850"/>
              </a:lnSpc>
              <a:buSzPct val="100000"/>
              <a:buFontTx/>
              <a:buChar char="•"/>
            </a:pPr>
            <a:r>
              <a:rPr lang="en-US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 #2807  feature-beneficiary</a:t>
            </a:r>
            <a:endParaRPr lang="en-US" dirty="0"/>
          </a:p>
          <a:p>
            <a:pPr marL="342900" indent="-342900">
              <a:lnSpc>
                <a:spcPts val="2850"/>
              </a:lnSpc>
              <a:buSzPct val="100000"/>
              <a:buFontTx/>
              <a:buChar char="•"/>
            </a:pPr>
            <a:r>
              <a:rPr lang="en-US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 #2809  feature-</a:t>
            </a:r>
            <a:r>
              <a:rPr lang="en-US" dirty="0" err="1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qr</a:t>
            </a:r>
            <a:endParaRPr lang="en-US" dirty="0"/>
          </a:p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8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 #2815  feature-</a:t>
            </a:r>
            <a:r>
              <a:rPr lang="en-US" sz="1800" dirty="0" err="1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userProfile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177439" y="542925"/>
            <a:ext cx="7761923" cy="1233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What I Have Done During Redesigning application UI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6177378" y="1875592"/>
            <a:ext cx="7761923" cy="1382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850"/>
              </a:lnSpc>
            </a:pPr>
            <a:r>
              <a:rPr lang="en-US" sz="3200" dirty="0"/>
              <a:t>Designing the navigation architecture for smooth and seamless user flow across all app screens.</a:t>
            </a:r>
            <a:endParaRPr lang="en-US" sz="3100" dirty="0"/>
          </a:p>
        </p:txBody>
      </p:sp>
      <p:sp>
        <p:nvSpPr>
          <p:cNvPr id="5" name="Shape 2"/>
          <p:cNvSpPr/>
          <p:nvPr/>
        </p:nvSpPr>
        <p:spPr>
          <a:xfrm>
            <a:off x="6177377" y="4250233"/>
            <a:ext cx="7761923" cy="1197293"/>
          </a:xfrm>
          <a:prstGeom prst="roundRect">
            <a:avLst>
              <a:gd name="adj" fmla="val 6191"/>
            </a:avLst>
          </a:prstGeom>
          <a:solidFill>
            <a:srgbClr val="FFFFFF"/>
          </a:solidFill>
          <a:ln/>
        </p:spPr>
        <p:txBody>
          <a:bodyPr/>
          <a:lstStyle/>
          <a:p>
            <a:r>
              <a:rPr lang="en-US" dirty="0"/>
              <a:t>Created reusable UI components and implemented a consistent theme to ensure visual uniformity and efficiency across the application’s interface. These components enhance modularity, simplify maintenance, and align with the overall design system.</a:t>
            </a:r>
            <a:endParaRPr lang="en-IN" dirty="0"/>
          </a:p>
        </p:txBody>
      </p:sp>
      <p:sp>
        <p:nvSpPr>
          <p:cNvPr id="6" name="Shape 3"/>
          <p:cNvSpPr/>
          <p:nvPr/>
        </p:nvSpPr>
        <p:spPr>
          <a:xfrm>
            <a:off x="6177439" y="3629620"/>
            <a:ext cx="7761923" cy="91440"/>
          </a:xfrm>
          <a:prstGeom prst="roundRect">
            <a:avLst>
              <a:gd name="adj" fmla="val 32391"/>
            </a:avLst>
          </a:prstGeom>
          <a:solidFill>
            <a:srgbClr val="1C9770"/>
          </a:solidFill>
          <a:ln/>
        </p:spPr>
      </p:sp>
      <p:sp>
        <p:nvSpPr>
          <p:cNvPr id="7" name="Shape 4"/>
          <p:cNvSpPr/>
          <p:nvPr/>
        </p:nvSpPr>
        <p:spPr>
          <a:xfrm>
            <a:off x="9762232" y="3356372"/>
            <a:ext cx="592336" cy="592336"/>
          </a:xfrm>
          <a:prstGeom prst="roundRect">
            <a:avLst>
              <a:gd name="adj" fmla="val 154372"/>
            </a:avLst>
          </a:prstGeom>
          <a:solidFill>
            <a:srgbClr val="1C9770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9873" y="3504486"/>
            <a:ext cx="236934" cy="2961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20677" y="3874034"/>
            <a:ext cx="2468166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Created components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6397704" y="4573072"/>
            <a:ext cx="7321391" cy="733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177439" y="5918359"/>
            <a:ext cx="7761923" cy="1772364"/>
          </a:xfrm>
          <a:prstGeom prst="roundRect">
            <a:avLst>
              <a:gd name="adj" fmla="val 6191"/>
            </a:avLst>
          </a:prstGeom>
          <a:solidFill>
            <a:srgbClr val="FFFFFF"/>
          </a:solidFill>
          <a:ln/>
        </p:spPr>
      </p:sp>
      <p:sp>
        <p:nvSpPr>
          <p:cNvPr id="12" name="Shape 8"/>
          <p:cNvSpPr/>
          <p:nvPr/>
        </p:nvSpPr>
        <p:spPr>
          <a:xfrm>
            <a:off x="6177439" y="5895499"/>
            <a:ext cx="7761923" cy="91440"/>
          </a:xfrm>
          <a:prstGeom prst="roundRect">
            <a:avLst>
              <a:gd name="adj" fmla="val 32391"/>
            </a:avLst>
          </a:prstGeom>
          <a:solidFill>
            <a:srgbClr val="1C9770"/>
          </a:solidFill>
          <a:ln/>
        </p:spPr>
      </p:sp>
      <p:sp>
        <p:nvSpPr>
          <p:cNvPr id="13" name="Shape 9"/>
          <p:cNvSpPr/>
          <p:nvPr/>
        </p:nvSpPr>
        <p:spPr>
          <a:xfrm>
            <a:off x="9762232" y="5622250"/>
            <a:ext cx="592336" cy="592336"/>
          </a:xfrm>
          <a:prstGeom prst="roundRect">
            <a:avLst>
              <a:gd name="adj" fmla="val 154372"/>
            </a:avLst>
          </a:prstGeom>
          <a:solidFill>
            <a:srgbClr val="1C9770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9873" y="5770364"/>
            <a:ext cx="236934" cy="2961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97704" y="6411992"/>
            <a:ext cx="2468166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464646"/>
                </a:solidFill>
                <a:latin typeface="DM Sans Semi Bold" pitchFamily="34" charset="0"/>
              </a:rPr>
              <a:t>Redesigning Screens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6397704" y="6838950"/>
            <a:ext cx="7321391" cy="631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50"/>
              </a:lnSpc>
            </a:pPr>
            <a:r>
              <a:rPr lang="en-US" sz="1600" dirty="0"/>
              <a:t>Redesigned screens by closely following Figma designs to enhance user experience and maintain design consistency across the app.</a:t>
            </a:r>
            <a:endParaRPr lang="en-US" sz="1550" dirty="0"/>
          </a:p>
        </p:txBody>
      </p:sp>
      <p:pic>
        <p:nvPicPr>
          <p:cNvPr id="3079" name="Picture 7">
            <a:extLst>
              <a:ext uri="{FF2B5EF4-FFF2-40B4-BE49-F238E27FC236}">
                <a16:creationId xmlns:a16="http://schemas.microsoft.com/office/drawing/2014/main" id="{5A404809-309D-65FC-88E4-C4D73BF269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056"/>
            <a:ext cx="2649520" cy="5839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1" name="Picture 9">
            <a:extLst>
              <a:ext uri="{FF2B5EF4-FFF2-40B4-BE49-F238E27FC236}">
                <a16:creationId xmlns:a16="http://schemas.microsoft.com/office/drawing/2014/main" id="{AC5AD7A1-97B3-3824-E945-87EB70459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6967" y="26057"/>
            <a:ext cx="1875850" cy="4186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3" name="Picture 11">
            <a:extLst>
              <a:ext uri="{FF2B5EF4-FFF2-40B4-BE49-F238E27FC236}">
                <a16:creationId xmlns:a16="http://schemas.microsoft.com/office/drawing/2014/main" id="{42A4914A-BEF4-6D82-F275-7BDA4EC9B3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6967" y="4212200"/>
            <a:ext cx="1914359" cy="3579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6010" y="775613"/>
            <a:ext cx="5605071" cy="90725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610A0DA-066B-E8D4-85F4-4DABDACC26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517" y="165360"/>
            <a:ext cx="3125493" cy="694553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93365E8-26E8-BB9D-4F30-6FBF85A2F6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1081" y="165360"/>
            <a:ext cx="3125493" cy="6945540"/>
          </a:xfrm>
          <a:prstGeom prst="rect">
            <a:avLst/>
          </a:prstGeom>
        </p:spPr>
      </p:pic>
      <p:pic>
        <p:nvPicPr>
          <p:cNvPr id="17" name="Image 1" descr="preencoded.png">
            <a:extLst>
              <a:ext uri="{FF2B5EF4-FFF2-40B4-BE49-F238E27FC236}">
                <a16:creationId xmlns:a16="http://schemas.microsoft.com/office/drawing/2014/main" id="{8D5D7F68-42AE-874D-303B-5BC475F129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6009" y="5091451"/>
            <a:ext cx="5605071" cy="90725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8AFE0B3-AA9C-8FA0-1C12-3AD335D34A40}"/>
              </a:ext>
            </a:extLst>
          </p:cNvPr>
          <p:cNvSpPr txBox="1"/>
          <p:nvPr/>
        </p:nvSpPr>
        <p:spPr>
          <a:xfrm>
            <a:off x="2430945" y="3745468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Home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0B765-4B2C-0D9A-415D-748BA5FA0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16EC6823-8CBC-F2D9-7932-65DC3BC86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6010" y="775613"/>
            <a:ext cx="5605071" cy="90725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C62495B-D771-11FA-F8E0-B4A8E74047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88" y="262645"/>
            <a:ext cx="3256822" cy="723738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737ED53-2752-B0CA-1702-FF65C71305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7129" y="165360"/>
            <a:ext cx="3125493" cy="6945540"/>
          </a:xfrm>
          <a:prstGeom prst="rect">
            <a:avLst/>
          </a:prstGeom>
        </p:spPr>
      </p:pic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17DC56C0-5AAC-BD1D-40EF-D5CA6DADEC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2058" y="5451375"/>
            <a:ext cx="5605071" cy="9072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3604C0D-4DED-F7D2-9274-074853D2A55C}"/>
              </a:ext>
            </a:extLst>
          </p:cNvPr>
          <p:cNvSpPr txBox="1"/>
          <p:nvPr/>
        </p:nvSpPr>
        <p:spPr>
          <a:xfrm>
            <a:off x="2430945" y="3881335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Accounts Screen</a:t>
            </a:r>
          </a:p>
        </p:txBody>
      </p:sp>
    </p:spTree>
    <p:extLst>
      <p:ext uri="{BB962C8B-B14F-4D97-AF65-F5344CB8AC3E}">
        <p14:creationId xmlns:p14="http://schemas.microsoft.com/office/powerpoint/2010/main" val="445920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042AF-874C-BBA2-B749-A9CFFF3F2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737E61B8-2CEF-B878-A619-B49A6E45C1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6010" y="775613"/>
            <a:ext cx="5605071" cy="907256"/>
          </a:xfrm>
          <a:prstGeom prst="rect">
            <a:avLst/>
          </a:prstGeom>
        </p:spPr>
      </p:pic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EF7C1642-6C82-F11A-B910-042C00C8BB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2058" y="5451375"/>
            <a:ext cx="5605071" cy="9072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581DDF-F7F8-BA9C-630F-A3F1B28D7F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36" y="216604"/>
            <a:ext cx="3256822" cy="72373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F8E1283-DC45-4660-2F13-4A3DA4CDB1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1081" y="165360"/>
            <a:ext cx="3199905" cy="71109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92D974F-6491-E36D-28F1-DE778B9BC788}"/>
              </a:ext>
            </a:extLst>
          </p:cNvPr>
          <p:cNvSpPr txBox="1"/>
          <p:nvPr/>
        </p:nvSpPr>
        <p:spPr>
          <a:xfrm>
            <a:off x="2295728" y="3650629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Saving Account Details</a:t>
            </a:r>
          </a:p>
        </p:txBody>
      </p:sp>
    </p:spTree>
    <p:extLst>
      <p:ext uri="{BB962C8B-B14F-4D97-AF65-F5344CB8AC3E}">
        <p14:creationId xmlns:p14="http://schemas.microsoft.com/office/powerpoint/2010/main" val="310993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52AAB-AA7A-0EF1-CD63-331A60190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66F7BC03-170F-3075-56A5-319CE27253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6010" y="775613"/>
            <a:ext cx="5605071" cy="907256"/>
          </a:xfrm>
          <a:prstGeom prst="rect">
            <a:avLst/>
          </a:prstGeom>
        </p:spPr>
      </p:pic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C56D12B9-884A-A85B-F95F-DB6B78C80C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2058" y="5451375"/>
            <a:ext cx="5605071" cy="90725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24BA7F8-2F91-55CD-B0CB-608C0BB543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7129" y="148824"/>
            <a:ext cx="3199905" cy="7110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455B65A-63AB-9D9E-AD6A-EE0890D389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88" y="216604"/>
            <a:ext cx="3256822" cy="723738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1D48C50-6FEB-F8FD-02D9-1E587F2336BF}"/>
              </a:ext>
            </a:extLst>
          </p:cNvPr>
          <p:cNvSpPr txBox="1"/>
          <p:nvPr/>
        </p:nvSpPr>
        <p:spPr>
          <a:xfrm>
            <a:off x="2446994" y="3930134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Sign in Screen</a:t>
            </a:r>
          </a:p>
        </p:txBody>
      </p:sp>
    </p:spTree>
    <p:extLst>
      <p:ext uri="{BB962C8B-B14F-4D97-AF65-F5344CB8AC3E}">
        <p14:creationId xmlns:p14="http://schemas.microsoft.com/office/powerpoint/2010/main" val="34939488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C63E2-59D2-0DD2-C93C-86F8AE578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EF46311F-3928-9E4B-30DE-ED9A0D3430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6010" y="775613"/>
            <a:ext cx="5605071" cy="907256"/>
          </a:xfrm>
          <a:prstGeom prst="rect">
            <a:avLst/>
          </a:prstGeom>
        </p:spPr>
      </p:pic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A47B2E99-5F73-8489-0254-9A7B5CC755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2058" y="5451375"/>
            <a:ext cx="5605071" cy="90725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C4E65BA-AF42-E057-B6BB-14C38290A1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40" y="216604"/>
            <a:ext cx="3256822" cy="72373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0F0EF40-D2E2-751F-6DEF-B037864064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1081" y="90122"/>
            <a:ext cx="3199905" cy="711090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DA273AE-DF61-C668-795D-CB91777EEB54}"/>
              </a:ext>
            </a:extLst>
          </p:cNvPr>
          <p:cNvSpPr txBox="1"/>
          <p:nvPr/>
        </p:nvSpPr>
        <p:spPr>
          <a:xfrm>
            <a:off x="5302560" y="3674436"/>
            <a:ext cx="1571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Account Filters</a:t>
            </a:r>
          </a:p>
        </p:txBody>
      </p:sp>
    </p:spTree>
    <p:extLst>
      <p:ext uri="{BB962C8B-B14F-4D97-AF65-F5344CB8AC3E}">
        <p14:creationId xmlns:p14="http://schemas.microsoft.com/office/powerpoint/2010/main" val="3376587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13147-5DAF-3C59-C506-ECB5FD700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1CC3CB9-E54F-4570-BF17-40223CB017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4550" y="0"/>
            <a:ext cx="10213981" cy="82296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6A85AA6-0B17-8211-7905-F138C40C8233}"/>
              </a:ext>
            </a:extLst>
          </p:cNvPr>
          <p:cNvSpPr txBox="1"/>
          <p:nvPr/>
        </p:nvSpPr>
        <p:spPr>
          <a:xfrm rot="16200000">
            <a:off x="-1024578" y="3554191"/>
            <a:ext cx="3380862" cy="861774"/>
          </a:xfrm>
          <a:prstGeom prst="rect">
            <a:avLst/>
          </a:prstGeom>
          <a:noFill/>
        </p:spPr>
        <p:txBody>
          <a:bodyPr vert="wordArtVert" wrap="square" rtlCol="0">
            <a:spAutoFit/>
          </a:bodyPr>
          <a:lstStyle/>
          <a:p>
            <a:r>
              <a:rPr lang="en-IN" sz="2500" dirty="0"/>
              <a:t>Sprint 1</a:t>
            </a:r>
          </a:p>
        </p:txBody>
      </p:sp>
    </p:spTree>
    <p:extLst>
      <p:ext uri="{BB962C8B-B14F-4D97-AF65-F5344CB8AC3E}">
        <p14:creationId xmlns:p14="http://schemas.microsoft.com/office/powerpoint/2010/main" val="29919885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C696F-D513-89F4-E8A7-83F7F67FE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0ECD21-E9F1-BBCF-5438-0904F82819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5524" y="123268"/>
            <a:ext cx="11469701" cy="79830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5183C34-1449-DF1E-75FD-A5184837ED54}"/>
              </a:ext>
            </a:extLst>
          </p:cNvPr>
          <p:cNvSpPr txBox="1"/>
          <p:nvPr/>
        </p:nvSpPr>
        <p:spPr>
          <a:xfrm rot="16200000">
            <a:off x="-1259545" y="3683912"/>
            <a:ext cx="3380862" cy="861774"/>
          </a:xfrm>
          <a:prstGeom prst="rect">
            <a:avLst/>
          </a:prstGeom>
          <a:noFill/>
        </p:spPr>
        <p:txBody>
          <a:bodyPr vert="wordArtVert" wrap="square">
            <a:spAutoFit/>
          </a:bodyPr>
          <a:lstStyle/>
          <a:p>
            <a:pPr algn="r"/>
            <a:r>
              <a:rPr lang="en-IN" sz="2500" spc="-300" dirty="0"/>
              <a:t>Sprint 2</a:t>
            </a:r>
          </a:p>
        </p:txBody>
      </p:sp>
    </p:spTree>
    <p:extLst>
      <p:ext uri="{BB962C8B-B14F-4D97-AF65-F5344CB8AC3E}">
        <p14:creationId xmlns:p14="http://schemas.microsoft.com/office/powerpoint/2010/main" val="25832190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FFB70-FC6D-21C4-0BF3-DC7C3A8BD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077D31F-E387-E4E5-7732-949FA17A3D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16" y="905231"/>
            <a:ext cx="11946017" cy="51632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3DE759-104F-3E93-4CC6-D42AA3191405}"/>
              </a:ext>
            </a:extLst>
          </p:cNvPr>
          <p:cNvSpPr txBox="1"/>
          <p:nvPr/>
        </p:nvSpPr>
        <p:spPr>
          <a:xfrm>
            <a:off x="3073940" y="157440"/>
            <a:ext cx="73152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500" dirty="0"/>
              <a:t>Sprint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0BAC6A-2593-F378-A536-494D4179164B}"/>
              </a:ext>
            </a:extLst>
          </p:cNvPr>
          <p:cNvSpPr txBox="1"/>
          <p:nvPr/>
        </p:nvSpPr>
        <p:spPr>
          <a:xfrm>
            <a:off x="1069816" y="6650846"/>
            <a:ext cx="1194601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We are heading into Sprint 4 and Sprint 5 of the Figma mockup phase, aiming to complete the remaining designs efficiently and stay aligned with our development timeline.</a:t>
            </a:r>
            <a:endParaRPr lang="en-IN" sz="2500" dirty="0"/>
          </a:p>
        </p:txBody>
      </p:sp>
    </p:spTree>
    <p:extLst>
      <p:ext uri="{BB962C8B-B14F-4D97-AF65-F5344CB8AC3E}">
        <p14:creationId xmlns:p14="http://schemas.microsoft.com/office/powerpoint/2010/main" val="17956350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738" y="449223"/>
            <a:ext cx="5088136" cy="510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Bug Fixes &amp; Contributions in Mifos Mobile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71738" y="1286470"/>
            <a:ext cx="653415" cy="980242"/>
          </a:xfrm>
          <a:prstGeom prst="roundRect">
            <a:avLst>
              <a:gd name="adj" fmla="val 360059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775930" y="1623417"/>
            <a:ext cx="245031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1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388507" y="1449825"/>
            <a:ext cx="3529181" cy="255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IN" dirty="0"/>
              <a:t>feat: setup theme and typography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88507" y="1802963"/>
            <a:ext cx="3662995" cy="261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[PR #</a:t>
            </a:r>
            <a:r>
              <a:rPr lang="en-IN" sz="1400" b="1" dirty="0"/>
              <a:t> 2846</a:t>
            </a: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]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71738" y="2389227"/>
            <a:ext cx="653415" cy="980242"/>
          </a:xfrm>
          <a:prstGeom prst="roundRect">
            <a:avLst>
              <a:gd name="adj" fmla="val 360059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775930" y="2726174"/>
            <a:ext cx="245031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388507" y="2552581"/>
            <a:ext cx="2765465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N" dirty="0"/>
              <a:t>refactor: radio button component</a:t>
            </a:r>
          </a:p>
        </p:txBody>
      </p:sp>
      <p:sp>
        <p:nvSpPr>
          <p:cNvPr id="10" name="Text 8"/>
          <p:cNvSpPr/>
          <p:nvPr/>
        </p:nvSpPr>
        <p:spPr>
          <a:xfrm>
            <a:off x="1388507" y="2807732"/>
            <a:ext cx="4354371" cy="359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[PR #</a:t>
            </a:r>
            <a:r>
              <a:rPr lang="en-IN" sz="1400" b="1" dirty="0"/>
              <a:t> 2847</a:t>
            </a: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]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71738" y="3491984"/>
            <a:ext cx="653415" cy="980242"/>
          </a:xfrm>
          <a:prstGeom prst="roundRect">
            <a:avLst>
              <a:gd name="adj" fmla="val 360059"/>
            </a:avLst>
          </a:prstGeom>
          <a:solidFill>
            <a:srgbClr val="F2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775930" y="3828931"/>
            <a:ext cx="245031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3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388507" y="3655338"/>
            <a:ext cx="2258378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IN" dirty="0"/>
              <a:t>feat: Customized Card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88507" y="4008477"/>
            <a:ext cx="12670155" cy="261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[PR #</a:t>
            </a:r>
            <a:r>
              <a:rPr lang="en-IN" sz="1400" b="1" dirty="0"/>
              <a:t> 2848</a:t>
            </a: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]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71738" y="4594741"/>
            <a:ext cx="653415" cy="980242"/>
          </a:xfrm>
          <a:prstGeom prst="roundRect">
            <a:avLst>
              <a:gd name="adj" fmla="val 360059"/>
            </a:avLst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775930" y="4931688"/>
            <a:ext cx="245031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4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388507" y="4758095"/>
            <a:ext cx="2042160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N" dirty="0"/>
              <a:t>feat: uploaded state component</a:t>
            </a:r>
          </a:p>
        </p:txBody>
      </p:sp>
      <p:sp>
        <p:nvSpPr>
          <p:cNvPr id="18" name="Text 16"/>
          <p:cNvSpPr/>
          <p:nvPr/>
        </p:nvSpPr>
        <p:spPr>
          <a:xfrm>
            <a:off x="1388507" y="5111234"/>
            <a:ext cx="12670155" cy="261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[PR #</a:t>
            </a:r>
            <a:r>
              <a:rPr lang="en-IN" sz="1400" b="1" dirty="0"/>
              <a:t> 2849</a:t>
            </a: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]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71738" y="5697498"/>
            <a:ext cx="653415" cy="980242"/>
          </a:xfrm>
          <a:prstGeom prst="roundRect">
            <a:avLst>
              <a:gd name="adj" fmla="val 360059"/>
            </a:avLst>
          </a:prstGeom>
          <a:solidFill>
            <a:srgbClr val="F2EEEE"/>
          </a:solidFill>
          <a:ln/>
        </p:spPr>
      </p:sp>
      <p:sp>
        <p:nvSpPr>
          <p:cNvPr id="20" name="Text 18"/>
          <p:cNvSpPr/>
          <p:nvPr/>
        </p:nvSpPr>
        <p:spPr>
          <a:xfrm>
            <a:off x="775930" y="6034445"/>
            <a:ext cx="245031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5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1388507" y="5860852"/>
            <a:ext cx="2042160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N" dirty="0"/>
              <a:t>feat: onboarding language screen </a:t>
            </a:r>
            <a:r>
              <a:rPr lang="en-IN" dirty="0" err="1"/>
              <a:t>ui</a:t>
            </a:r>
            <a:r>
              <a:rPr lang="en-IN" dirty="0"/>
              <a:t> &amp; </a:t>
            </a:r>
            <a:r>
              <a:rPr lang="en-IN" dirty="0" err="1"/>
              <a:t>viewModel</a:t>
            </a:r>
            <a:endParaRPr lang="en-IN" dirty="0"/>
          </a:p>
        </p:txBody>
      </p:sp>
      <p:sp>
        <p:nvSpPr>
          <p:cNvPr id="22" name="Text 20"/>
          <p:cNvSpPr/>
          <p:nvPr/>
        </p:nvSpPr>
        <p:spPr>
          <a:xfrm>
            <a:off x="1388507" y="6213991"/>
            <a:ext cx="12670155" cy="261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[PR #</a:t>
            </a:r>
            <a:r>
              <a:rPr lang="en-IN" sz="1400" b="1" dirty="0"/>
              <a:t> 2850</a:t>
            </a: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]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71738" y="6800255"/>
            <a:ext cx="653415" cy="980242"/>
          </a:xfrm>
          <a:prstGeom prst="roundRect">
            <a:avLst>
              <a:gd name="adj" fmla="val 360059"/>
            </a:avLst>
          </a:prstGeom>
          <a:solidFill>
            <a:srgbClr val="F2EEEE"/>
          </a:solidFill>
          <a:ln/>
        </p:spPr>
      </p:sp>
      <p:sp>
        <p:nvSpPr>
          <p:cNvPr id="24" name="Text 22"/>
          <p:cNvSpPr/>
          <p:nvPr/>
        </p:nvSpPr>
        <p:spPr>
          <a:xfrm>
            <a:off x="775930" y="7137202"/>
            <a:ext cx="245031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6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1388507" y="6963608"/>
            <a:ext cx="2042160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IN" dirty="0"/>
              <a:t>Sign in </a:t>
            </a:r>
            <a:r>
              <a:rPr lang="en-IN" dirty="0" err="1"/>
              <a:t>ui</a:t>
            </a:r>
            <a:r>
              <a:rPr lang="en-IN" dirty="0"/>
              <a:t> and view model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88507" y="7316748"/>
            <a:ext cx="12670155" cy="261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[PR #</a:t>
            </a:r>
            <a:r>
              <a:rPr lang="en-IN" sz="1400" b="1" dirty="0"/>
              <a:t> 2851</a:t>
            </a: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]</a:t>
            </a:r>
            <a:endParaRPr lang="en-US" sz="1250" dirty="0"/>
          </a:p>
        </p:txBody>
      </p:sp>
      <p:sp>
        <p:nvSpPr>
          <p:cNvPr id="37" name="Shape 1">
            <a:extLst>
              <a:ext uri="{FF2B5EF4-FFF2-40B4-BE49-F238E27FC236}">
                <a16:creationId xmlns:a16="http://schemas.microsoft.com/office/drawing/2014/main" id="{C10E97C7-D0CE-3067-B0A8-216A28275C62}"/>
              </a:ext>
            </a:extLst>
          </p:cNvPr>
          <p:cNvSpPr/>
          <p:nvPr/>
        </p:nvSpPr>
        <p:spPr>
          <a:xfrm>
            <a:off x="8070755" y="1332487"/>
            <a:ext cx="653415" cy="980242"/>
          </a:xfrm>
          <a:prstGeom prst="roundRect">
            <a:avLst>
              <a:gd name="adj" fmla="val 360059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/>
          </a:p>
          <a:p>
            <a:r>
              <a:rPr lang="en-IN" dirty="0"/>
              <a:t>8</a:t>
            </a:r>
          </a:p>
        </p:txBody>
      </p:sp>
      <p:sp>
        <p:nvSpPr>
          <p:cNvPr id="38" name="Text 3">
            <a:extLst>
              <a:ext uri="{FF2B5EF4-FFF2-40B4-BE49-F238E27FC236}">
                <a16:creationId xmlns:a16="http://schemas.microsoft.com/office/drawing/2014/main" id="{062DF7B4-4C1D-44D4-7B39-79970CDD9907}"/>
              </a:ext>
            </a:extLst>
          </p:cNvPr>
          <p:cNvSpPr/>
          <p:nvPr/>
        </p:nvSpPr>
        <p:spPr>
          <a:xfrm>
            <a:off x="8887524" y="1495842"/>
            <a:ext cx="3529181" cy="255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IN" dirty="0"/>
              <a:t>feat: status component</a:t>
            </a:r>
            <a:endParaRPr lang="en-US" sz="1600" dirty="0"/>
          </a:p>
        </p:txBody>
      </p:sp>
      <p:sp>
        <p:nvSpPr>
          <p:cNvPr id="39" name="Text 4">
            <a:extLst>
              <a:ext uri="{FF2B5EF4-FFF2-40B4-BE49-F238E27FC236}">
                <a16:creationId xmlns:a16="http://schemas.microsoft.com/office/drawing/2014/main" id="{4D583193-E1C1-5FA9-3720-74A0B2452D1F}"/>
              </a:ext>
            </a:extLst>
          </p:cNvPr>
          <p:cNvSpPr/>
          <p:nvPr/>
        </p:nvSpPr>
        <p:spPr>
          <a:xfrm>
            <a:off x="8887524" y="1848980"/>
            <a:ext cx="3662995" cy="261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[PR #</a:t>
            </a:r>
            <a:r>
              <a:rPr lang="en-IN" sz="1400" b="1" dirty="0"/>
              <a:t> 2852</a:t>
            </a: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]</a:t>
            </a:r>
            <a:endParaRPr lang="en-US" sz="1250" dirty="0"/>
          </a:p>
        </p:txBody>
      </p:sp>
      <p:sp>
        <p:nvSpPr>
          <p:cNvPr id="40" name="Shape 5">
            <a:extLst>
              <a:ext uri="{FF2B5EF4-FFF2-40B4-BE49-F238E27FC236}">
                <a16:creationId xmlns:a16="http://schemas.microsoft.com/office/drawing/2014/main" id="{FCD5E084-C355-3348-9734-EB0A450EBB8C}"/>
              </a:ext>
            </a:extLst>
          </p:cNvPr>
          <p:cNvSpPr/>
          <p:nvPr/>
        </p:nvSpPr>
        <p:spPr>
          <a:xfrm>
            <a:off x="8070755" y="2435244"/>
            <a:ext cx="653415" cy="980242"/>
          </a:xfrm>
          <a:prstGeom prst="roundRect">
            <a:avLst>
              <a:gd name="adj" fmla="val 360059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/>
          </a:p>
          <a:p>
            <a:r>
              <a:rPr lang="en-IN" dirty="0"/>
              <a:t>9</a:t>
            </a:r>
          </a:p>
        </p:txBody>
      </p:sp>
      <p:sp>
        <p:nvSpPr>
          <p:cNvPr id="41" name="Text 7">
            <a:extLst>
              <a:ext uri="{FF2B5EF4-FFF2-40B4-BE49-F238E27FC236}">
                <a16:creationId xmlns:a16="http://schemas.microsoft.com/office/drawing/2014/main" id="{70EEE4E4-98D0-8A47-810C-382837F48DE9}"/>
              </a:ext>
            </a:extLst>
          </p:cNvPr>
          <p:cNvSpPr/>
          <p:nvPr/>
        </p:nvSpPr>
        <p:spPr>
          <a:xfrm>
            <a:off x="8887524" y="2598598"/>
            <a:ext cx="2765465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N" dirty="0"/>
              <a:t>feat: Sign up UI view model</a:t>
            </a:r>
          </a:p>
          <a:p>
            <a:pPr>
              <a:lnSpc>
                <a:spcPts val="2000"/>
              </a:lnSpc>
            </a:pPr>
            <a:endParaRPr lang="en-US" sz="1600" dirty="0"/>
          </a:p>
        </p:txBody>
      </p:sp>
      <p:sp>
        <p:nvSpPr>
          <p:cNvPr id="42" name="Text 8">
            <a:extLst>
              <a:ext uri="{FF2B5EF4-FFF2-40B4-BE49-F238E27FC236}">
                <a16:creationId xmlns:a16="http://schemas.microsoft.com/office/drawing/2014/main" id="{E8021112-D5B2-5F35-4BDF-7D6AF5F70E74}"/>
              </a:ext>
            </a:extLst>
          </p:cNvPr>
          <p:cNvSpPr/>
          <p:nvPr/>
        </p:nvSpPr>
        <p:spPr>
          <a:xfrm>
            <a:off x="8887524" y="2830889"/>
            <a:ext cx="4354371" cy="353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[PR #</a:t>
            </a:r>
            <a:r>
              <a:rPr lang="en-IN" sz="1400" b="1" dirty="0"/>
              <a:t> 2853</a:t>
            </a: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]</a:t>
            </a:r>
            <a:endParaRPr lang="en-US" sz="1250" dirty="0"/>
          </a:p>
        </p:txBody>
      </p:sp>
      <p:sp>
        <p:nvSpPr>
          <p:cNvPr id="43" name="Shape 1">
            <a:extLst>
              <a:ext uri="{FF2B5EF4-FFF2-40B4-BE49-F238E27FC236}">
                <a16:creationId xmlns:a16="http://schemas.microsoft.com/office/drawing/2014/main" id="{E794FAB3-D83C-167C-C351-00BA97C86745}"/>
              </a:ext>
            </a:extLst>
          </p:cNvPr>
          <p:cNvSpPr/>
          <p:nvPr/>
        </p:nvSpPr>
        <p:spPr>
          <a:xfrm>
            <a:off x="8070755" y="3612832"/>
            <a:ext cx="653415" cy="980242"/>
          </a:xfrm>
          <a:prstGeom prst="roundRect">
            <a:avLst>
              <a:gd name="adj" fmla="val 360059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/>
          </a:p>
          <a:p>
            <a:r>
              <a:rPr lang="en-IN" dirty="0"/>
              <a:t>10</a:t>
            </a:r>
          </a:p>
        </p:txBody>
      </p:sp>
      <p:sp>
        <p:nvSpPr>
          <p:cNvPr id="44" name="Text 3">
            <a:extLst>
              <a:ext uri="{FF2B5EF4-FFF2-40B4-BE49-F238E27FC236}">
                <a16:creationId xmlns:a16="http://schemas.microsoft.com/office/drawing/2014/main" id="{1A3B86D2-C945-D68F-CAE9-9DC8D2CBC490}"/>
              </a:ext>
            </a:extLst>
          </p:cNvPr>
          <p:cNvSpPr/>
          <p:nvPr/>
        </p:nvSpPr>
        <p:spPr>
          <a:xfrm>
            <a:off x="8887524" y="3776187"/>
            <a:ext cx="3529181" cy="255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N" dirty="0"/>
              <a:t>feat: upload id </a:t>
            </a:r>
            <a:r>
              <a:rPr lang="en-IN" dirty="0" err="1"/>
              <a:t>ui</a:t>
            </a:r>
            <a:r>
              <a:rPr lang="en-IN" dirty="0"/>
              <a:t> &amp; </a:t>
            </a:r>
            <a:r>
              <a:rPr lang="en-IN" dirty="0" err="1"/>
              <a:t>viewModel</a:t>
            </a:r>
            <a:endParaRPr lang="en-IN" dirty="0"/>
          </a:p>
        </p:txBody>
      </p:sp>
      <p:sp>
        <p:nvSpPr>
          <p:cNvPr id="45" name="Text 4">
            <a:extLst>
              <a:ext uri="{FF2B5EF4-FFF2-40B4-BE49-F238E27FC236}">
                <a16:creationId xmlns:a16="http://schemas.microsoft.com/office/drawing/2014/main" id="{63CADB47-02F3-A5EE-5EBD-C083291FF55B}"/>
              </a:ext>
            </a:extLst>
          </p:cNvPr>
          <p:cNvSpPr/>
          <p:nvPr/>
        </p:nvSpPr>
        <p:spPr>
          <a:xfrm>
            <a:off x="8887524" y="4129325"/>
            <a:ext cx="3662995" cy="261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[PR #</a:t>
            </a:r>
            <a:r>
              <a:rPr lang="en-IN" sz="1400" b="1" dirty="0"/>
              <a:t> 2854</a:t>
            </a: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]</a:t>
            </a:r>
            <a:endParaRPr lang="en-US" sz="1250" dirty="0"/>
          </a:p>
        </p:txBody>
      </p:sp>
      <p:sp>
        <p:nvSpPr>
          <p:cNvPr id="46" name="Shape 5">
            <a:extLst>
              <a:ext uri="{FF2B5EF4-FFF2-40B4-BE49-F238E27FC236}">
                <a16:creationId xmlns:a16="http://schemas.microsoft.com/office/drawing/2014/main" id="{75CAF4AB-C6F5-5EEF-ABC2-D6CC9A7C4326}"/>
              </a:ext>
            </a:extLst>
          </p:cNvPr>
          <p:cNvSpPr/>
          <p:nvPr/>
        </p:nvSpPr>
        <p:spPr>
          <a:xfrm>
            <a:off x="8070755" y="4715589"/>
            <a:ext cx="653415" cy="980242"/>
          </a:xfrm>
          <a:prstGeom prst="roundRect">
            <a:avLst>
              <a:gd name="adj" fmla="val 360059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/>
          </a:p>
          <a:p>
            <a:r>
              <a:rPr lang="en-IN" dirty="0"/>
              <a:t>11</a:t>
            </a:r>
          </a:p>
        </p:txBody>
      </p:sp>
      <p:sp>
        <p:nvSpPr>
          <p:cNvPr id="47" name="Text 7">
            <a:extLst>
              <a:ext uri="{FF2B5EF4-FFF2-40B4-BE49-F238E27FC236}">
                <a16:creationId xmlns:a16="http://schemas.microsoft.com/office/drawing/2014/main" id="{24310AE8-6860-D16E-B47D-510C6A00C039}"/>
              </a:ext>
            </a:extLst>
          </p:cNvPr>
          <p:cNvSpPr/>
          <p:nvPr/>
        </p:nvSpPr>
        <p:spPr>
          <a:xfrm>
            <a:off x="8887524" y="4878943"/>
            <a:ext cx="2765465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N" dirty="0"/>
              <a:t>feat: </a:t>
            </a:r>
            <a:r>
              <a:rPr lang="en-IN" dirty="0" err="1"/>
              <a:t>otp</a:t>
            </a:r>
            <a:r>
              <a:rPr lang="en-IN" dirty="0"/>
              <a:t> authentication </a:t>
            </a:r>
            <a:r>
              <a:rPr lang="en-IN" dirty="0" err="1"/>
              <a:t>ui</a:t>
            </a:r>
            <a:r>
              <a:rPr lang="en-IN" dirty="0"/>
              <a:t> &amp; </a:t>
            </a:r>
            <a:r>
              <a:rPr lang="en-IN" dirty="0" err="1"/>
              <a:t>viewModel</a:t>
            </a:r>
            <a:endParaRPr lang="en-IN" dirty="0"/>
          </a:p>
        </p:txBody>
      </p:sp>
      <p:sp>
        <p:nvSpPr>
          <p:cNvPr id="48" name="Text 8">
            <a:extLst>
              <a:ext uri="{FF2B5EF4-FFF2-40B4-BE49-F238E27FC236}">
                <a16:creationId xmlns:a16="http://schemas.microsoft.com/office/drawing/2014/main" id="{02A50065-AA1D-483E-B586-FD0480997A64}"/>
              </a:ext>
            </a:extLst>
          </p:cNvPr>
          <p:cNvSpPr/>
          <p:nvPr/>
        </p:nvSpPr>
        <p:spPr>
          <a:xfrm>
            <a:off x="8887524" y="5134094"/>
            <a:ext cx="4354371" cy="359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[PR #</a:t>
            </a:r>
            <a:r>
              <a:rPr lang="en-IN" sz="1400" b="1" dirty="0"/>
              <a:t> 2855</a:t>
            </a: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]</a:t>
            </a:r>
            <a:endParaRPr lang="en-US" sz="1250" dirty="0"/>
          </a:p>
        </p:txBody>
      </p:sp>
      <p:sp>
        <p:nvSpPr>
          <p:cNvPr id="49" name="Shape 1">
            <a:extLst>
              <a:ext uri="{FF2B5EF4-FFF2-40B4-BE49-F238E27FC236}">
                <a16:creationId xmlns:a16="http://schemas.microsoft.com/office/drawing/2014/main" id="{2CD5544B-BF53-2D26-B18D-0283E110E9EF}"/>
              </a:ext>
            </a:extLst>
          </p:cNvPr>
          <p:cNvSpPr/>
          <p:nvPr/>
        </p:nvSpPr>
        <p:spPr>
          <a:xfrm>
            <a:off x="8070753" y="5832609"/>
            <a:ext cx="653415" cy="980242"/>
          </a:xfrm>
          <a:prstGeom prst="roundRect">
            <a:avLst>
              <a:gd name="adj" fmla="val 360059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/>
          </a:p>
          <a:p>
            <a:r>
              <a:rPr lang="en-IN" dirty="0"/>
              <a:t>12</a:t>
            </a:r>
          </a:p>
        </p:txBody>
      </p:sp>
      <p:sp>
        <p:nvSpPr>
          <p:cNvPr id="50" name="Text 3">
            <a:extLst>
              <a:ext uri="{FF2B5EF4-FFF2-40B4-BE49-F238E27FC236}">
                <a16:creationId xmlns:a16="http://schemas.microsoft.com/office/drawing/2014/main" id="{00BFE190-FD1E-555D-D286-B46837EE7404}"/>
              </a:ext>
            </a:extLst>
          </p:cNvPr>
          <p:cNvSpPr/>
          <p:nvPr/>
        </p:nvSpPr>
        <p:spPr>
          <a:xfrm>
            <a:off x="8887522" y="5995964"/>
            <a:ext cx="3529181" cy="255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IN" dirty="0"/>
              <a:t>feat: recover password </a:t>
            </a:r>
            <a:r>
              <a:rPr lang="en-IN" dirty="0" err="1"/>
              <a:t>ui</a:t>
            </a:r>
            <a:r>
              <a:rPr lang="en-IN" dirty="0"/>
              <a:t> &amp; </a:t>
            </a:r>
            <a:r>
              <a:rPr lang="en-IN" dirty="0" err="1"/>
              <a:t>viewModel</a:t>
            </a:r>
            <a:endParaRPr lang="en-US" sz="1600" dirty="0"/>
          </a:p>
        </p:txBody>
      </p:sp>
      <p:sp>
        <p:nvSpPr>
          <p:cNvPr id="51" name="Text 4">
            <a:extLst>
              <a:ext uri="{FF2B5EF4-FFF2-40B4-BE49-F238E27FC236}">
                <a16:creationId xmlns:a16="http://schemas.microsoft.com/office/drawing/2014/main" id="{6E978C48-CB46-6D0D-828B-46D714F7D859}"/>
              </a:ext>
            </a:extLst>
          </p:cNvPr>
          <p:cNvSpPr/>
          <p:nvPr/>
        </p:nvSpPr>
        <p:spPr>
          <a:xfrm>
            <a:off x="8887522" y="6349102"/>
            <a:ext cx="3662995" cy="261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[PR #</a:t>
            </a:r>
            <a:r>
              <a:rPr lang="en-IN" sz="1400" b="1" dirty="0"/>
              <a:t> 2856</a:t>
            </a: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]</a:t>
            </a:r>
            <a:endParaRPr lang="en-US" sz="1250" dirty="0"/>
          </a:p>
        </p:txBody>
      </p:sp>
      <p:sp>
        <p:nvSpPr>
          <p:cNvPr id="52" name="Shape 5">
            <a:extLst>
              <a:ext uri="{FF2B5EF4-FFF2-40B4-BE49-F238E27FC236}">
                <a16:creationId xmlns:a16="http://schemas.microsoft.com/office/drawing/2014/main" id="{4497DDB2-111A-31B2-596D-4E091ACF06FF}"/>
              </a:ext>
            </a:extLst>
          </p:cNvPr>
          <p:cNvSpPr/>
          <p:nvPr/>
        </p:nvSpPr>
        <p:spPr>
          <a:xfrm>
            <a:off x="8070753" y="6935366"/>
            <a:ext cx="653415" cy="980242"/>
          </a:xfrm>
          <a:prstGeom prst="roundRect">
            <a:avLst>
              <a:gd name="adj" fmla="val 360059"/>
            </a:avLst>
          </a:prstGeom>
          <a:solidFill>
            <a:srgbClr val="F2EEEE"/>
          </a:solidFill>
          <a:ln/>
        </p:spPr>
        <p:txBody>
          <a:bodyPr/>
          <a:lstStyle/>
          <a:p>
            <a:r>
              <a:rPr lang="en-IN" dirty="0"/>
              <a:t>13</a:t>
            </a:r>
          </a:p>
        </p:txBody>
      </p:sp>
      <p:sp>
        <p:nvSpPr>
          <p:cNvPr id="53" name="Text 7">
            <a:extLst>
              <a:ext uri="{FF2B5EF4-FFF2-40B4-BE49-F238E27FC236}">
                <a16:creationId xmlns:a16="http://schemas.microsoft.com/office/drawing/2014/main" id="{6D9CB85D-D37F-5639-194F-4170452A1636}"/>
              </a:ext>
            </a:extLst>
          </p:cNvPr>
          <p:cNvSpPr/>
          <p:nvPr/>
        </p:nvSpPr>
        <p:spPr>
          <a:xfrm>
            <a:off x="8887522" y="7098720"/>
            <a:ext cx="2765465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IN" dirty="0"/>
              <a:t>feat: set new password </a:t>
            </a:r>
            <a:r>
              <a:rPr lang="en-IN" dirty="0" err="1"/>
              <a:t>ui</a:t>
            </a:r>
            <a:r>
              <a:rPr lang="en-IN" dirty="0"/>
              <a:t> &amp; </a:t>
            </a:r>
            <a:r>
              <a:rPr lang="en-IN" dirty="0" err="1"/>
              <a:t>viewModel</a:t>
            </a:r>
            <a:endParaRPr lang="en-US" sz="1600" dirty="0"/>
          </a:p>
        </p:txBody>
      </p:sp>
      <p:sp>
        <p:nvSpPr>
          <p:cNvPr id="54" name="Text 8">
            <a:extLst>
              <a:ext uri="{FF2B5EF4-FFF2-40B4-BE49-F238E27FC236}">
                <a16:creationId xmlns:a16="http://schemas.microsoft.com/office/drawing/2014/main" id="{D49A34EE-ABF0-1347-2871-AE17AFF2D2BA}"/>
              </a:ext>
            </a:extLst>
          </p:cNvPr>
          <p:cNvSpPr/>
          <p:nvPr/>
        </p:nvSpPr>
        <p:spPr>
          <a:xfrm>
            <a:off x="8887522" y="7353871"/>
            <a:ext cx="4354371" cy="359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[PR #</a:t>
            </a:r>
            <a:r>
              <a:rPr lang="en-IN" sz="1400" b="1" dirty="0"/>
              <a:t> 2857</a:t>
            </a: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]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34398-8B48-DB3B-B00F-528F7F5A3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EB4002B4-40EB-E2A1-E1ED-8C1BE3C52927}"/>
              </a:ext>
            </a:extLst>
          </p:cNvPr>
          <p:cNvSpPr/>
          <p:nvPr/>
        </p:nvSpPr>
        <p:spPr>
          <a:xfrm>
            <a:off x="1388507" y="1449825"/>
            <a:ext cx="3529181" cy="255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IN" dirty="0"/>
              <a:t>refactor: enhance navigation &amp; screens</a:t>
            </a:r>
            <a:endParaRPr lang="en-US" sz="1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299D1C2-AD32-35BD-DCCF-162FA9E7EE68}"/>
              </a:ext>
            </a:extLst>
          </p:cNvPr>
          <p:cNvSpPr/>
          <p:nvPr/>
        </p:nvSpPr>
        <p:spPr>
          <a:xfrm>
            <a:off x="1388507" y="1802963"/>
            <a:ext cx="3662995" cy="261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[PR #</a:t>
            </a:r>
            <a:r>
              <a:rPr lang="en-IN" sz="1400" b="1" dirty="0"/>
              <a:t> 2858</a:t>
            </a: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]</a:t>
            </a:r>
            <a:endParaRPr lang="en-US" sz="12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30EB08B-233B-BA44-7049-F1AF8BBDC32B}"/>
              </a:ext>
            </a:extLst>
          </p:cNvPr>
          <p:cNvSpPr/>
          <p:nvPr/>
        </p:nvSpPr>
        <p:spPr>
          <a:xfrm>
            <a:off x="571738" y="2389227"/>
            <a:ext cx="653415" cy="980242"/>
          </a:xfrm>
          <a:prstGeom prst="roundRect">
            <a:avLst>
              <a:gd name="adj" fmla="val 360059"/>
            </a:avLst>
          </a:prstGeom>
          <a:solidFill>
            <a:srgbClr val="F2EEEE"/>
          </a:solidFill>
          <a:ln/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B7E8E4A-8641-F878-E8FE-11BF06E3EE99}"/>
              </a:ext>
            </a:extLst>
          </p:cNvPr>
          <p:cNvSpPr/>
          <p:nvPr/>
        </p:nvSpPr>
        <p:spPr>
          <a:xfrm>
            <a:off x="775930" y="2726174"/>
            <a:ext cx="245031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dirty="0">
                <a:solidFill>
                  <a:srgbClr val="464646"/>
                </a:solidFill>
                <a:latin typeface="DM Sans Semi Bold" pitchFamily="34" charset="0"/>
              </a:rPr>
              <a:t>15</a:t>
            </a:r>
            <a:endParaRPr lang="en-US" sz="19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80CF2D9-7FF2-450E-8821-30781078ECB5}"/>
              </a:ext>
            </a:extLst>
          </p:cNvPr>
          <p:cNvSpPr/>
          <p:nvPr/>
        </p:nvSpPr>
        <p:spPr>
          <a:xfrm>
            <a:off x="1388507" y="2552581"/>
            <a:ext cx="2765465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IN" dirty="0"/>
              <a:t>fix: desktop compose plugin version &amp; navigation</a:t>
            </a:r>
            <a:endParaRPr lang="en-US" sz="1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6FF49B1-53EB-B162-221E-941B28BDCDE1}"/>
              </a:ext>
            </a:extLst>
          </p:cNvPr>
          <p:cNvSpPr/>
          <p:nvPr/>
        </p:nvSpPr>
        <p:spPr>
          <a:xfrm>
            <a:off x="1388505" y="2763413"/>
            <a:ext cx="4354371" cy="270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[PR #</a:t>
            </a:r>
            <a:r>
              <a:rPr lang="en-IN" sz="1400" b="1" dirty="0"/>
              <a:t> 2859</a:t>
            </a: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]</a:t>
            </a:r>
            <a:endParaRPr lang="en-US" sz="12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5E2104B1-50EE-7577-A7FE-5417A56A50CD}"/>
              </a:ext>
            </a:extLst>
          </p:cNvPr>
          <p:cNvSpPr/>
          <p:nvPr/>
        </p:nvSpPr>
        <p:spPr>
          <a:xfrm>
            <a:off x="571738" y="3491984"/>
            <a:ext cx="653415" cy="980242"/>
          </a:xfrm>
          <a:prstGeom prst="roundRect">
            <a:avLst>
              <a:gd name="adj" fmla="val 360059"/>
            </a:avLst>
          </a:prstGeom>
          <a:solidFill>
            <a:srgbClr val="F2EEEE"/>
          </a:solidFill>
          <a:ln/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3DFB1F9-0782-928F-26A7-3E4B3BF4EC76}"/>
              </a:ext>
            </a:extLst>
          </p:cNvPr>
          <p:cNvSpPr/>
          <p:nvPr/>
        </p:nvSpPr>
        <p:spPr>
          <a:xfrm>
            <a:off x="775930" y="3828931"/>
            <a:ext cx="245031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16</a:t>
            </a:r>
            <a:endParaRPr lang="en-US" sz="19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4C666B4-C108-258B-9B29-65A209041177}"/>
              </a:ext>
            </a:extLst>
          </p:cNvPr>
          <p:cNvSpPr/>
          <p:nvPr/>
        </p:nvSpPr>
        <p:spPr>
          <a:xfrm>
            <a:off x="1388507" y="3655338"/>
            <a:ext cx="2258378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IN" dirty="0"/>
              <a:t>feat: home </a:t>
            </a:r>
            <a:r>
              <a:rPr lang="en-IN" dirty="0" err="1"/>
              <a:t>ui</a:t>
            </a:r>
            <a:r>
              <a:rPr lang="en-IN" dirty="0"/>
              <a:t> &amp; </a:t>
            </a:r>
            <a:r>
              <a:rPr lang="en-IN" dirty="0" err="1"/>
              <a:t>viewModel</a:t>
            </a:r>
            <a:endParaRPr lang="en-US" sz="16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464FC86-7256-076E-8A47-B262DB94A0BC}"/>
              </a:ext>
            </a:extLst>
          </p:cNvPr>
          <p:cNvSpPr/>
          <p:nvPr/>
        </p:nvSpPr>
        <p:spPr>
          <a:xfrm>
            <a:off x="1388507" y="3904254"/>
            <a:ext cx="12670155" cy="306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[PR #</a:t>
            </a:r>
            <a:r>
              <a:rPr lang="en-IN" sz="1400" b="1" dirty="0"/>
              <a:t> 2860</a:t>
            </a:r>
            <a:endParaRPr lang="en-US" sz="125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30843705-B4B4-A3B2-6ABD-228397DFC6FA}"/>
              </a:ext>
            </a:extLst>
          </p:cNvPr>
          <p:cNvSpPr/>
          <p:nvPr/>
        </p:nvSpPr>
        <p:spPr>
          <a:xfrm>
            <a:off x="571738" y="4594741"/>
            <a:ext cx="653415" cy="980242"/>
          </a:xfrm>
          <a:prstGeom prst="roundRect">
            <a:avLst>
              <a:gd name="adj" fmla="val 360059"/>
            </a:avLst>
          </a:prstGeom>
          <a:solidFill>
            <a:srgbClr val="F2EEEE"/>
          </a:solidFill>
          <a:ln/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9B87AAB-CE18-AE2F-CD44-604C7CB659B3}"/>
              </a:ext>
            </a:extLst>
          </p:cNvPr>
          <p:cNvSpPr/>
          <p:nvPr/>
        </p:nvSpPr>
        <p:spPr>
          <a:xfrm>
            <a:off x="775930" y="4931688"/>
            <a:ext cx="245031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17</a:t>
            </a:r>
            <a:endParaRPr lang="en-US" sz="19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3ABE3C5-F3DC-641B-C81C-99FFD908E84E}"/>
              </a:ext>
            </a:extLst>
          </p:cNvPr>
          <p:cNvSpPr/>
          <p:nvPr/>
        </p:nvSpPr>
        <p:spPr>
          <a:xfrm>
            <a:off x="1388507" y="4758095"/>
            <a:ext cx="2042160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IN" dirty="0"/>
              <a:t>feat: passcode </a:t>
            </a:r>
            <a:r>
              <a:rPr lang="en-IN" dirty="0" err="1"/>
              <a:t>ui</a:t>
            </a:r>
            <a:r>
              <a:rPr lang="en-IN" dirty="0"/>
              <a:t> &amp; </a:t>
            </a:r>
            <a:r>
              <a:rPr lang="en-IN" dirty="0" err="1"/>
              <a:t>viewModel</a:t>
            </a:r>
            <a:endParaRPr lang="en-US" sz="16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76A6982-684A-1CF9-500A-89AF85D97CA2}"/>
              </a:ext>
            </a:extLst>
          </p:cNvPr>
          <p:cNvSpPr/>
          <p:nvPr/>
        </p:nvSpPr>
        <p:spPr>
          <a:xfrm>
            <a:off x="1388507" y="5111234"/>
            <a:ext cx="12670155" cy="261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[PR #</a:t>
            </a:r>
            <a:r>
              <a:rPr lang="en-IN" sz="1400" b="1" dirty="0"/>
              <a:t> 2861</a:t>
            </a: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]</a:t>
            </a:r>
            <a:endParaRPr lang="en-US" sz="125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61753277-63F7-71FC-241A-0C842FFCDF71}"/>
              </a:ext>
            </a:extLst>
          </p:cNvPr>
          <p:cNvSpPr/>
          <p:nvPr/>
        </p:nvSpPr>
        <p:spPr>
          <a:xfrm>
            <a:off x="571738" y="5697498"/>
            <a:ext cx="653415" cy="980242"/>
          </a:xfrm>
          <a:prstGeom prst="roundRect">
            <a:avLst>
              <a:gd name="adj" fmla="val 360059"/>
            </a:avLst>
          </a:prstGeom>
          <a:solidFill>
            <a:srgbClr val="F2EEEE"/>
          </a:solidFill>
          <a:ln/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4E1CAACB-54DE-8487-12F4-3AFAA222C5C2}"/>
              </a:ext>
            </a:extLst>
          </p:cNvPr>
          <p:cNvSpPr/>
          <p:nvPr/>
        </p:nvSpPr>
        <p:spPr>
          <a:xfrm>
            <a:off x="775930" y="6034445"/>
            <a:ext cx="245031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dirty="0">
                <a:solidFill>
                  <a:srgbClr val="464646"/>
                </a:solidFill>
                <a:latin typeface="DM Sans Semi Bold" pitchFamily="34" charset="0"/>
              </a:rPr>
              <a:t>18</a:t>
            </a:r>
            <a:endParaRPr lang="en-US" sz="19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7E593602-A097-9C28-68D7-BF83DA476AC6}"/>
              </a:ext>
            </a:extLst>
          </p:cNvPr>
          <p:cNvSpPr/>
          <p:nvPr/>
        </p:nvSpPr>
        <p:spPr>
          <a:xfrm>
            <a:off x="1388507" y="5860852"/>
            <a:ext cx="2042160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IN" dirty="0"/>
              <a:t>feat: savings account </a:t>
            </a:r>
            <a:r>
              <a:rPr lang="en-IN" dirty="0" err="1"/>
              <a:t>ui</a:t>
            </a:r>
            <a:r>
              <a:rPr lang="en-IN" dirty="0"/>
              <a:t> &amp; </a:t>
            </a:r>
            <a:r>
              <a:rPr lang="en-IN" dirty="0" err="1"/>
              <a:t>viewModel</a:t>
            </a:r>
            <a:endParaRPr lang="en-US" sz="16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7ACAC277-727C-0948-D150-B6E5ADCA43B5}"/>
              </a:ext>
            </a:extLst>
          </p:cNvPr>
          <p:cNvSpPr/>
          <p:nvPr/>
        </p:nvSpPr>
        <p:spPr>
          <a:xfrm>
            <a:off x="1388507" y="6213991"/>
            <a:ext cx="12670155" cy="261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25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[PR #</a:t>
            </a:r>
            <a:r>
              <a:rPr lang="en-IN" sz="1400" b="1"/>
              <a:t> 2862</a:t>
            </a:r>
            <a:r>
              <a:rPr lang="en-US" sz="125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]</a:t>
            </a:r>
            <a:endParaRPr lang="en-US" sz="125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1F713D93-87CC-2920-2255-84DDD22A2980}"/>
              </a:ext>
            </a:extLst>
          </p:cNvPr>
          <p:cNvSpPr/>
          <p:nvPr/>
        </p:nvSpPr>
        <p:spPr>
          <a:xfrm>
            <a:off x="571738" y="6800255"/>
            <a:ext cx="653415" cy="980242"/>
          </a:xfrm>
          <a:prstGeom prst="roundRect">
            <a:avLst>
              <a:gd name="adj" fmla="val 360059"/>
            </a:avLst>
          </a:prstGeom>
          <a:solidFill>
            <a:srgbClr val="F2EEEE"/>
          </a:solidFill>
          <a:ln/>
        </p:spPr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7B67F78-F0B0-E3BA-FB53-E05D04423882}"/>
              </a:ext>
            </a:extLst>
          </p:cNvPr>
          <p:cNvSpPr/>
          <p:nvPr/>
        </p:nvSpPr>
        <p:spPr>
          <a:xfrm>
            <a:off x="775930" y="7137202"/>
            <a:ext cx="245031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dirty="0">
                <a:solidFill>
                  <a:srgbClr val="464646"/>
                </a:solidFill>
                <a:latin typeface="DM Sans Semi Bold" pitchFamily="34" charset="0"/>
              </a:rPr>
              <a:t>19</a:t>
            </a:r>
            <a:endParaRPr lang="en-US" sz="19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8CB018FA-5447-3705-543F-7D77FB2355B5}"/>
              </a:ext>
            </a:extLst>
          </p:cNvPr>
          <p:cNvSpPr/>
          <p:nvPr/>
        </p:nvSpPr>
        <p:spPr>
          <a:xfrm>
            <a:off x="1388507" y="6963608"/>
            <a:ext cx="2042160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IN" dirty="0"/>
              <a:t>feat: savings account filters &amp; generic account module</a:t>
            </a:r>
            <a:endParaRPr lang="en-US" sz="16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29E2A54A-82B9-D861-2160-D1AC8F034DA9}"/>
              </a:ext>
            </a:extLst>
          </p:cNvPr>
          <p:cNvSpPr/>
          <p:nvPr/>
        </p:nvSpPr>
        <p:spPr>
          <a:xfrm>
            <a:off x="1388507" y="7316748"/>
            <a:ext cx="12670155" cy="261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[PR #</a:t>
            </a:r>
            <a:r>
              <a:rPr lang="en-IN" sz="1400" b="1" dirty="0"/>
              <a:t> 2865</a:t>
            </a: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]</a:t>
            </a:r>
            <a:endParaRPr lang="en-US" sz="1250" dirty="0"/>
          </a:p>
        </p:txBody>
      </p:sp>
      <p:sp>
        <p:nvSpPr>
          <p:cNvPr id="37" name="Shape 1">
            <a:extLst>
              <a:ext uri="{FF2B5EF4-FFF2-40B4-BE49-F238E27FC236}">
                <a16:creationId xmlns:a16="http://schemas.microsoft.com/office/drawing/2014/main" id="{4B75C699-73EF-65D1-19D7-52A49BD5D952}"/>
              </a:ext>
            </a:extLst>
          </p:cNvPr>
          <p:cNvSpPr/>
          <p:nvPr/>
        </p:nvSpPr>
        <p:spPr>
          <a:xfrm>
            <a:off x="8070755" y="1332487"/>
            <a:ext cx="653415" cy="980242"/>
          </a:xfrm>
          <a:prstGeom prst="roundRect">
            <a:avLst>
              <a:gd name="adj" fmla="val 360059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/>
          </a:p>
          <a:p>
            <a:r>
              <a:rPr lang="en-IN" dirty="0"/>
              <a:t>20</a:t>
            </a:r>
          </a:p>
        </p:txBody>
      </p:sp>
      <p:sp>
        <p:nvSpPr>
          <p:cNvPr id="38" name="Text 3">
            <a:extLst>
              <a:ext uri="{FF2B5EF4-FFF2-40B4-BE49-F238E27FC236}">
                <a16:creationId xmlns:a16="http://schemas.microsoft.com/office/drawing/2014/main" id="{1159C1C0-26FB-F1CA-B19A-3F20238FF4EA}"/>
              </a:ext>
            </a:extLst>
          </p:cNvPr>
          <p:cNvSpPr/>
          <p:nvPr/>
        </p:nvSpPr>
        <p:spPr>
          <a:xfrm>
            <a:off x="8887524" y="1495842"/>
            <a:ext cx="3529181" cy="255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N" dirty="0"/>
              <a:t>refactor: signup flow</a:t>
            </a:r>
          </a:p>
        </p:txBody>
      </p:sp>
      <p:sp>
        <p:nvSpPr>
          <p:cNvPr id="39" name="Text 4">
            <a:extLst>
              <a:ext uri="{FF2B5EF4-FFF2-40B4-BE49-F238E27FC236}">
                <a16:creationId xmlns:a16="http://schemas.microsoft.com/office/drawing/2014/main" id="{6B5D375E-FD23-506A-6CA7-2675DC56B15A}"/>
              </a:ext>
            </a:extLst>
          </p:cNvPr>
          <p:cNvSpPr/>
          <p:nvPr/>
        </p:nvSpPr>
        <p:spPr>
          <a:xfrm>
            <a:off x="8887524" y="1848980"/>
            <a:ext cx="3662995" cy="261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[PR #</a:t>
            </a:r>
            <a:r>
              <a:rPr lang="en-IN" sz="1400" b="1" dirty="0"/>
              <a:t> 2868</a:t>
            </a: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]</a:t>
            </a:r>
            <a:endParaRPr lang="en-US" sz="1250" dirty="0"/>
          </a:p>
        </p:txBody>
      </p:sp>
      <p:sp>
        <p:nvSpPr>
          <p:cNvPr id="40" name="Shape 5">
            <a:extLst>
              <a:ext uri="{FF2B5EF4-FFF2-40B4-BE49-F238E27FC236}">
                <a16:creationId xmlns:a16="http://schemas.microsoft.com/office/drawing/2014/main" id="{FDB2AB78-517C-B907-96B5-3934B2132135}"/>
              </a:ext>
            </a:extLst>
          </p:cNvPr>
          <p:cNvSpPr/>
          <p:nvPr/>
        </p:nvSpPr>
        <p:spPr>
          <a:xfrm>
            <a:off x="8070755" y="2435244"/>
            <a:ext cx="653415" cy="980242"/>
          </a:xfrm>
          <a:prstGeom prst="roundRect">
            <a:avLst>
              <a:gd name="adj" fmla="val 360059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/>
          </a:p>
          <a:p>
            <a:r>
              <a:rPr lang="en-IN" dirty="0"/>
              <a:t>21</a:t>
            </a:r>
          </a:p>
        </p:txBody>
      </p:sp>
      <p:sp>
        <p:nvSpPr>
          <p:cNvPr id="41" name="Text 7">
            <a:extLst>
              <a:ext uri="{FF2B5EF4-FFF2-40B4-BE49-F238E27FC236}">
                <a16:creationId xmlns:a16="http://schemas.microsoft.com/office/drawing/2014/main" id="{E16C2F88-B260-6500-34B1-EA1E0A6E2B27}"/>
              </a:ext>
            </a:extLst>
          </p:cNvPr>
          <p:cNvSpPr/>
          <p:nvPr/>
        </p:nvSpPr>
        <p:spPr>
          <a:xfrm>
            <a:off x="8887524" y="2598598"/>
            <a:ext cx="2765465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IN" dirty="0"/>
              <a:t>feat: account label card</a:t>
            </a:r>
            <a:endParaRPr lang="en-US" sz="1600" dirty="0"/>
          </a:p>
        </p:txBody>
      </p:sp>
      <p:sp>
        <p:nvSpPr>
          <p:cNvPr id="42" name="Text 8">
            <a:extLst>
              <a:ext uri="{FF2B5EF4-FFF2-40B4-BE49-F238E27FC236}">
                <a16:creationId xmlns:a16="http://schemas.microsoft.com/office/drawing/2014/main" id="{B815F42C-6042-BAFA-411C-F5EE34A590E6}"/>
              </a:ext>
            </a:extLst>
          </p:cNvPr>
          <p:cNvSpPr/>
          <p:nvPr/>
        </p:nvSpPr>
        <p:spPr>
          <a:xfrm>
            <a:off x="8887524" y="2933622"/>
            <a:ext cx="4354371" cy="57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[PR #</a:t>
            </a:r>
            <a:r>
              <a:rPr lang="en-IN" sz="1400" b="1" dirty="0"/>
              <a:t> 2870</a:t>
            </a: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]</a:t>
            </a:r>
            <a:endParaRPr lang="en-US" sz="1250" dirty="0"/>
          </a:p>
        </p:txBody>
      </p:sp>
      <p:sp>
        <p:nvSpPr>
          <p:cNvPr id="43" name="Shape 1">
            <a:extLst>
              <a:ext uri="{FF2B5EF4-FFF2-40B4-BE49-F238E27FC236}">
                <a16:creationId xmlns:a16="http://schemas.microsoft.com/office/drawing/2014/main" id="{1E892324-BAAA-6325-09DD-C0BF7F083F66}"/>
              </a:ext>
            </a:extLst>
          </p:cNvPr>
          <p:cNvSpPr/>
          <p:nvPr/>
        </p:nvSpPr>
        <p:spPr>
          <a:xfrm>
            <a:off x="8070755" y="3612832"/>
            <a:ext cx="653415" cy="980242"/>
          </a:xfrm>
          <a:prstGeom prst="roundRect">
            <a:avLst>
              <a:gd name="adj" fmla="val 360059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/>
          </a:p>
          <a:p>
            <a:r>
              <a:rPr lang="en-IN" dirty="0"/>
              <a:t>22</a:t>
            </a:r>
          </a:p>
        </p:txBody>
      </p:sp>
      <p:sp>
        <p:nvSpPr>
          <p:cNvPr id="44" name="Text 3">
            <a:extLst>
              <a:ext uri="{FF2B5EF4-FFF2-40B4-BE49-F238E27FC236}">
                <a16:creationId xmlns:a16="http://schemas.microsoft.com/office/drawing/2014/main" id="{5A7D32F5-528D-1E5D-E4A2-B92F05E60725}"/>
              </a:ext>
            </a:extLst>
          </p:cNvPr>
          <p:cNvSpPr/>
          <p:nvPr/>
        </p:nvSpPr>
        <p:spPr>
          <a:xfrm>
            <a:off x="8887524" y="3776187"/>
            <a:ext cx="3529181" cy="255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IN" dirty="0"/>
              <a:t>feat: account details </a:t>
            </a:r>
            <a:r>
              <a:rPr lang="en-IN" dirty="0" err="1"/>
              <a:t>ui</a:t>
            </a:r>
            <a:r>
              <a:rPr lang="en-IN" dirty="0"/>
              <a:t> &amp; </a:t>
            </a:r>
            <a:r>
              <a:rPr lang="en-IN" dirty="0" err="1"/>
              <a:t>viewModel</a:t>
            </a:r>
            <a:endParaRPr lang="en-US" sz="1600" dirty="0"/>
          </a:p>
        </p:txBody>
      </p:sp>
      <p:sp>
        <p:nvSpPr>
          <p:cNvPr id="45" name="Text 4">
            <a:extLst>
              <a:ext uri="{FF2B5EF4-FFF2-40B4-BE49-F238E27FC236}">
                <a16:creationId xmlns:a16="http://schemas.microsoft.com/office/drawing/2014/main" id="{9B3CB910-CA08-EF02-EAD0-DB56E45C70B5}"/>
              </a:ext>
            </a:extLst>
          </p:cNvPr>
          <p:cNvSpPr/>
          <p:nvPr/>
        </p:nvSpPr>
        <p:spPr>
          <a:xfrm>
            <a:off x="8887524" y="4129325"/>
            <a:ext cx="3662995" cy="261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[PR #</a:t>
            </a:r>
            <a:r>
              <a:rPr lang="en-IN" sz="1400" b="1" dirty="0"/>
              <a:t> 2872</a:t>
            </a: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]</a:t>
            </a:r>
            <a:endParaRPr lang="en-US" sz="1250" dirty="0"/>
          </a:p>
        </p:txBody>
      </p:sp>
      <p:sp>
        <p:nvSpPr>
          <p:cNvPr id="46" name="Shape 5">
            <a:extLst>
              <a:ext uri="{FF2B5EF4-FFF2-40B4-BE49-F238E27FC236}">
                <a16:creationId xmlns:a16="http://schemas.microsoft.com/office/drawing/2014/main" id="{9CAC011B-B1BC-4B2B-7E1E-BAB94C069BEB}"/>
              </a:ext>
            </a:extLst>
          </p:cNvPr>
          <p:cNvSpPr/>
          <p:nvPr/>
        </p:nvSpPr>
        <p:spPr>
          <a:xfrm>
            <a:off x="8070755" y="4715589"/>
            <a:ext cx="653415" cy="980242"/>
          </a:xfrm>
          <a:prstGeom prst="roundRect">
            <a:avLst>
              <a:gd name="adj" fmla="val 360059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/>
          </a:p>
          <a:p>
            <a:r>
              <a:rPr lang="en-IN" dirty="0"/>
              <a:t>23</a:t>
            </a:r>
          </a:p>
        </p:txBody>
      </p:sp>
      <p:sp>
        <p:nvSpPr>
          <p:cNvPr id="47" name="Text 7">
            <a:extLst>
              <a:ext uri="{FF2B5EF4-FFF2-40B4-BE49-F238E27FC236}">
                <a16:creationId xmlns:a16="http://schemas.microsoft.com/office/drawing/2014/main" id="{8DF96F84-D1C2-8EE9-FAAD-7CF55870E5A4}"/>
              </a:ext>
            </a:extLst>
          </p:cNvPr>
          <p:cNvSpPr/>
          <p:nvPr/>
        </p:nvSpPr>
        <p:spPr>
          <a:xfrm>
            <a:off x="8887524" y="4878943"/>
            <a:ext cx="2765465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IN" dirty="0"/>
              <a:t>feat: update account </a:t>
            </a:r>
            <a:r>
              <a:rPr lang="en-IN" dirty="0" err="1"/>
              <a:t>ui</a:t>
            </a:r>
            <a:r>
              <a:rPr lang="en-IN" dirty="0"/>
              <a:t> &amp; </a:t>
            </a:r>
            <a:r>
              <a:rPr lang="en-IN" dirty="0" err="1"/>
              <a:t>viewModel</a:t>
            </a:r>
            <a:endParaRPr lang="en-US" sz="1600" dirty="0"/>
          </a:p>
        </p:txBody>
      </p:sp>
      <p:sp>
        <p:nvSpPr>
          <p:cNvPr id="48" name="Text 8">
            <a:extLst>
              <a:ext uri="{FF2B5EF4-FFF2-40B4-BE49-F238E27FC236}">
                <a16:creationId xmlns:a16="http://schemas.microsoft.com/office/drawing/2014/main" id="{80D28F51-FF42-282C-796F-F6452E30BE9D}"/>
              </a:ext>
            </a:extLst>
          </p:cNvPr>
          <p:cNvSpPr/>
          <p:nvPr/>
        </p:nvSpPr>
        <p:spPr>
          <a:xfrm>
            <a:off x="8887524" y="5134094"/>
            <a:ext cx="4354371" cy="359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[PR #</a:t>
            </a:r>
            <a:r>
              <a:rPr lang="en-IN" sz="1400" b="1" dirty="0"/>
              <a:t> 2875</a:t>
            </a: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]</a:t>
            </a:r>
            <a:endParaRPr lang="en-US" sz="1250" dirty="0"/>
          </a:p>
        </p:txBody>
      </p:sp>
      <p:sp>
        <p:nvSpPr>
          <p:cNvPr id="27" name="Shape 1">
            <a:extLst>
              <a:ext uri="{FF2B5EF4-FFF2-40B4-BE49-F238E27FC236}">
                <a16:creationId xmlns:a16="http://schemas.microsoft.com/office/drawing/2014/main" id="{D986EC83-D83C-666E-1412-F82B8086BAFD}"/>
              </a:ext>
            </a:extLst>
          </p:cNvPr>
          <p:cNvSpPr/>
          <p:nvPr/>
        </p:nvSpPr>
        <p:spPr>
          <a:xfrm>
            <a:off x="571737" y="1296710"/>
            <a:ext cx="653415" cy="980242"/>
          </a:xfrm>
          <a:prstGeom prst="roundRect">
            <a:avLst>
              <a:gd name="adj" fmla="val 360059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/>
          </a:p>
          <a:p>
            <a:r>
              <a:rPr lang="en-IN" dirty="0"/>
              <a:t>14</a:t>
            </a:r>
          </a:p>
        </p:txBody>
      </p:sp>
      <p:sp>
        <p:nvSpPr>
          <p:cNvPr id="29" name="Text 0">
            <a:extLst>
              <a:ext uri="{FF2B5EF4-FFF2-40B4-BE49-F238E27FC236}">
                <a16:creationId xmlns:a16="http://schemas.microsoft.com/office/drawing/2014/main" id="{175F7BEA-6395-DD0A-2C80-DD42685D1077}"/>
              </a:ext>
            </a:extLst>
          </p:cNvPr>
          <p:cNvSpPr/>
          <p:nvPr/>
        </p:nvSpPr>
        <p:spPr>
          <a:xfrm>
            <a:off x="724138" y="601623"/>
            <a:ext cx="5088136" cy="510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Bug Fixes &amp; Contributions</a:t>
            </a:r>
            <a:endParaRPr lang="en-US" sz="3200" dirty="0"/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E8AE29CA-EFE7-28CA-6368-BA57ABD84F3B}"/>
              </a:ext>
            </a:extLst>
          </p:cNvPr>
          <p:cNvSpPr/>
          <p:nvPr/>
        </p:nvSpPr>
        <p:spPr>
          <a:xfrm>
            <a:off x="8065807" y="5768221"/>
            <a:ext cx="653415" cy="980242"/>
          </a:xfrm>
          <a:prstGeom prst="roundRect">
            <a:avLst>
              <a:gd name="adj" fmla="val 360059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/>
          </a:p>
          <a:p>
            <a:r>
              <a:rPr lang="en-IN" dirty="0"/>
              <a:t>24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799F5F9-2553-EB3A-EED3-E5D679C77C78}"/>
              </a:ext>
            </a:extLst>
          </p:cNvPr>
          <p:cNvSpPr txBox="1"/>
          <p:nvPr/>
        </p:nvSpPr>
        <p:spPr>
          <a:xfrm>
            <a:off x="8759105" y="5941596"/>
            <a:ext cx="5015261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en-IN" dirty="0"/>
              <a:t>feat: withdraw savings account </a:t>
            </a:r>
            <a:r>
              <a:rPr lang="en-IN" dirty="0" err="1"/>
              <a:t>ui</a:t>
            </a:r>
            <a:r>
              <a:rPr lang="en-IN" dirty="0"/>
              <a:t> &amp; </a:t>
            </a:r>
            <a:r>
              <a:rPr lang="en-IN" dirty="0" err="1"/>
              <a:t>viewModel</a:t>
            </a:r>
            <a:endParaRPr lang="en-US" sz="16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52F8D7A-C2BE-A959-7AEA-704C0F0F965C}"/>
              </a:ext>
            </a:extLst>
          </p:cNvPr>
          <p:cNvSpPr txBox="1"/>
          <p:nvPr/>
        </p:nvSpPr>
        <p:spPr>
          <a:xfrm>
            <a:off x="8759105" y="6258342"/>
            <a:ext cx="4122008" cy="3416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50"/>
              </a:lnSpc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[PR #</a:t>
            </a:r>
            <a:r>
              <a:rPr lang="en-IN" sz="1250" b="1" dirty="0"/>
              <a:t> </a:t>
            </a:r>
            <a:r>
              <a:rPr lang="en-IN" sz="1400" b="1" dirty="0"/>
              <a:t>2877</a:t>
            </a: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]</a:t>
            </a:r>
            <a:endParaRPr lang="en-US" sz="1250" dirty="0"/>
          </a:p>
        </p:txBody>
      </p:sp>
      <p:sp>
        <p:nvSpPr>
          <p:cNvPr id="32" name="Shape 5">
            <a:extLst>
              <a:ext uri="{FF2B5EF4-FFF2-40B4-BE49-F238E27FC236}">
                <a16:creationId xmlns:a16="http://schemas.microsoft.com/office/drawing/2014/main" id="{9790AA47-2790-CD97-4DFC-FF11D0742EDA}"/>
              </a:ext>
            </a:extLst>
          </p:cNvPr>
          <p:cNvSpPr/>
          <p:nvPr/>
        </p:nvSpPr>
        <p:spPr>
          <a:xfrm>
            <a:off x="8065806" y="6800255"/>
            <a:ext cx="653415" cy="980242"/>
          </a:xfrm>
          <a:prstGeom prst="roundRect">
            <a:avLst>
              <a:gd name="adj" fmla="val 360059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/>
          </a:p>
          <a:p>
            <a:r>
              <a:rPr lang="en-IN" dirty="0"/>
              <a:t>25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4EE885E-3533-5206-6964-CFA4BA45D4E3}"/>
              </a:ext>
            </a:extLst>
          </p:cNvPr>
          <p:cNvSpPr txBox="1"/>
          <p:nvPr/>
        </p:nvSpPr>
        <p:spPr>
          <a:xfrm>
            <a:off x="8759105" y="6963608"/>
            <a:ext cx="5175556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en-IN" dirty="0"/>
              <a:t>feat: loan account </a:t>
            </a:r>
            <a:r>
              <a:rPr lang="en-IN" dirty="0" err="1"/>
              <a:t>ui</a:t>
            </a:r>
            <a:r>
              <a:rPr lang="en-IN" dirty="0"/>
              <a:t> &amp; </a:t>
            </a:r>
            <a:r>
              <a:rPr lang="en-IN" dirty="0" err="1"/>
              <a:t>viewModel</a:t>
            </a:r>
            <a:endParaRPr lang="en-US" sz="16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B4DC0E7-C751-1915-BA62-FF5DEC6CE6AB}"/>
              </a:ext>
            </a:extLst>
          </p:cNvPr>
          <p:cNvSpPr txBox="1"/>
          <p:nvPr/>
        </p:nvSpPr>
        <p:spPr>
          <a:xfrm>
            <a:off x="8759105" y="7177884"/>
            <a:ext cx="3258766" cy="335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50"/>
              </a:lnSpc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[PR #</a:t>
            </a:r>
            <a:r>
              <a:rPr lang="en-IN" sz="1250" b="1" dirty="0"/>
              <a:t> 2879</a:t>
            </a: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]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9897471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"/>
          <p:cNvSpPr/>
          <p:nvPr/>
        </p:nvSpPr>
        <p:spPr>
          <a:xfrm>
            <a:off x="6111359" y="420706"/>
            <a:ext cx="3738682" cy="2202299"/>
          </a:xfrm>
          <a:prstGeom prst="roundRect">
            <a:avLst>
              <a:gd name="adj" fmla="val 498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" name="Shape 3"/>
          <p:cNvSpPr/>
          <p:nvPr/>
        </p:nvSpPr>
        <p:spPr>
          <a:xfrm>
            <a:off x="6111359" y="397846"/>
            <a:ext cx="3738682" cy="91440"/>
          </a:xfrm>
          <a:prstGeom prst="roundRect">
            <a:avLst>
              <a:gd name="adj" fmla="val 34178"/>
            </a:avLst>
          </a:prstGeom>
          <a:solidFill>
            <a:srgbClr val="1C9770"/>
          </a:solidFill>
          <a:ln/>
        </p:spPr>
      </p:sp>
      <p:sp>
        <p:nvSpPr>
          <p:cNvPr id="7" name="Shape 4"/>
          <p:cNvSpPr/>
          <p:nvPr/>
        </p:nvSpPr>
        <p:spPr>
          <a:xfrm>
            <a:off x="7668160" y="108286"/>
            <a:ext cx="624959" cy="624959"/>
          </a:xfrm>
          <a:prstGeom prst="roundRect">
            <a:avLst>
              <a:gd name="adj" fmla="val 146314"/>
            </a:avLst>
          </a:prstGeom>
          <a:solidFill>
            <a:srgbClr val="1C9770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5684" y="264496"/>
            <a:ext cx="249912" cy="3124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42459" y="941486"/>
            <a:ext cx="2604254" cy="325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UI Refactoring</a:t>
            </a:r>
            <a:endParaRPr lang="en-US" sz="2050" dirty="0"/>
          </a:p>
        </p:txBody>
      </p:sp>
      <p:sp>
        <p:nvSpPr>
          <p:cNvPr id="10" name="Text 6"/>
          <p:cNvSpPr/>
          <p:nvPr/>
        </p:nvSpPr>
        <p:spPr>
          <a:xfrm>
            <a:off x="6342459" y="1391780"/>
            <a:ext cx="3276481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Refactored multiple screens using the latest </a:t>
            </a:r>
            <a:r>
              <a:rPr lang="en-US" sz="1600" dirty="0">
                <a:solidFill>
                  <a:srgbClr val="464646"/>
                </a:solidFill>
                <a:highlight>
                  <a:srgbClr val="AFCBF8"/>
                </a:highlight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Figma UI designs</a:t>
            </a: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10058281" y="420706"/>
            <a:ext cx="3738801" cy="2202299"/>
          </a:xfrm>
          <a:prstGeom prst="roundRect">
            <a:avLst>
              <a:gd name="adj" fmla="val 4982"/>
            </a:avLst>
          </a:prstGeom>
          <a:solidFill>
            <a:srgbClr val="FFFFFF"/>
          </a:solidFill>
          <a:ln/>
        </p:spPr>
      </p:sp>
      <p:sp>
        <p:nvSpPr>
          <p:cNvPr id="12" name="Shape 8"/>
          <p:cNvSpPr/>
          <p:nvPr/>
        </p:nvSpPr>
        <p:spPr>
          <a:xfrm>
            <a:off x="10058281" y="397846"/>
            <a:ext cx="3738801" cy="91440"/>
          </a:xfrm>
          <a:prstGeom prst="roundRect">
            <a:avLst>
              <a:gd name="adj" fmla="val 34178"/>
            </a:avLst>
          </a:prstGeom>
          <a:solidFill>
            <a:srgbClr val="1C9770"/>
          </a:solidFill>
          <a:ln/>
        </p:spPr>
      </p:sp>
      <p:sp>
        <p:nvSpPr>
          <p:cNvPr id="13" name="Shape 9"/>
          <p:cNvSpPr/>
          <p:nvPr/>
        </p:nvSpPr>
        <p:spPr>
          <a:xfrm>
            <a:off x="11615201" y="108286"/>
            <a:ext cx="624959" cy="624959"/>
          </a:xfrm>
          <a:prstGeom prst="roundRect">
            <a:avLst>
              <a:gd name="adj" fmla="val 146314"/>
            </a:avLst>
          </a:prstGeom>
          <a:solidFill>
            <a:srgbClr val="1C9770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02725" y="264496"/>
            <a:ext cx="249912" cy="3124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289381" y="941486"/>
            <a:ext cx="2604254" cy="325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Modern Layouts</a:t>
            </a:r>
            <a:endParaRPr lang="en-US" sz="2050" dirty="0"/>
          </a:p>
        </p:txBody>
      </p:sp>
      <p:sp>
        <p:nvSpPr>
          <p:cNvPr id="16" name="Text 11"/>
          <p:cNvSpPr/>
          <p:nvPr/>
        </p:nvSpPr>
        <p:spPr>
          <a:xfrm>
            <a:off x="10289381" y="1391780"/>
            <a:ext cx="3276600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Replaced outdated UI with </a:t>
            </a:r>
            <a:r>
              <a:rPr lang="en-US" sz="1600" dirty="0">
                <a:solidFill>
                  <a:srgbClr val="464646"/>
                </a:solidFill>
                <a:highlight>
                  <a:srgbClr val="AFCBF8"/>
                </a:highlight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modern layouts and components</a:t>
            </a: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.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111359" y="3143666"/>
            <a:ext cx="7685723" cy="1535549"/>
          </a:xfrm>
          <a:prstGeom prst="roundRect">
            <a:avLst>
              <a:gd name="adj" fmla="val 7146"/>
            </a:avLst>
          </a:prstGeom>
          <a:solidFill>
            <a:srgbClr val="FFFFFF"/>
          </a:solidFill>
          <a:ln/>
        </p:spPr>
      </p:sp>
      <p:sp>
        <p:nvSpPr>
          <p:cNvPr id="18" name="Shape 13"/>
          <p:cNvSpPr/>
          <p:nvPr/>
        </p:nvSpPr>
        <p:spPr>
          <a:xfrm>
            <a:off x="6111359" y="3120806"/>
            <a:ext cx="7685723" cy="91440"/>
          </a:xfrm>
          <a:prstGeom prst="roundRect">
            <a:avLst>
              <a:gd name="adj" fmla="val 34178"/>
            </a:avLst>
          </a:prstGeom>
          <a:solidFill>
            <a:srgbClr val="1C9770"/>
          </a:solidFill>
          <a:ln/>
        </p:spPr>
      </p:sp>
      <p:sp>
        <p:nvSpPr>
          <p:cNvPr id="19" name="Shape 14"/>
          <p:cNvSpPr/>
          <p:nvPr/>
        </p:nvSpPr>
        <p:spPr>
          <a:xfrm>
            <a:off x="9641740" y="2831246"/>
            <a:ext cx="624959" cy="624959"/>
          </a:xfrm>
          <a:prstGeom prst="roundRect">
            <a:avLst>
              <a:gd name="adj" fmla="val 146314"/>
            </a:avLst>
          </a:prstGeom>
          <a:solidFill>
            <a:srgbClr val="1C9770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264" y="2987456"/>
            <a:ext cx="249912" cy="3124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42459" y="3664445"/>
            <a:ext cx="2711529" cy="325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Type-Safe Navigation</a:t>
            </a:r>
            <a:endParaRPr lang="en-US" sz="2050" dirty="0"/>
          </a:p>
        </p:txBody>
      </p:sp>
      <p:sp>
        <p:nvSpPr>
          <p:cNvPr id="22" name="Text 16"/>
          <p:cNvSpPr/>
          <p:nvPr/>
        </p:nvSpPr>
        <p:spPr>
          <a:xfrm>
            <a:off x="6342459" y="4114739"/>
            <a:ext cx="7223522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Migrated to </a:t>
            </a:r>
            <a:r>
              <a:rPr lang="en-US" sz="1600" dirty="0">
                <a:solidFill>
                  <a:srgbClr val="464646"/>
                </a:solidFill>
                <a:highlight>
                  <a:srgbClr val="AFCBF8"/>
                </a:highlight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type-safe navigation</a:t>
            </a: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for better structure and maintainability.</a:t>
            </a:r>
            <a:endParaRPr lang="en-US" sz="16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63C5142-03F4-EB39-1DAE-612D5CD607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0449" y="0"/>
            <a:ext cx="3738682" cy="816038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408B3B9-3176-5D2C-1683-6D3F050246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1358" y="4702075"/>
            <a:ext cx="6128801" cy="29744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5925" y="578168"/>
            <a:ext cx="5704761" cy="656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Phase 2 – Future Plans</a:t>
            </a:r>
            <a:endParaRPr lang="en-US" sz="4100" dirty="0"/>
          </a:p>
        </p:txBody>
      </p:sp>
      <p:sp>
        <p:nvSpPr>
          <p:cNvPr id="3" name="Shape 1"/>
          <p:cNvSpPr/>
          <p:nvPr/>
        </p:nvSpPr>
        <p:spPr>
          <a:xfrm>
            <a:off x="735925" y="1655683"/>
            <a:ext cx="473035" cy="473035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814685" y="1695033"/>
            <a:ext cx="315397" cy="394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1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419225" y="1727954"/>
            <a:ext cx="2746296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US" sz="2000" dirty="0">
                <a:latin typeface="DM Sans Semi Bold" panose="020B0604020202020204" charset="0"/>
                <a:ea typeface="Inter Medium" panose="020B0604020202020204" charset="0"/>
              </a:rPr>
              <a:t>Scheduled Payments</a:t>
            </a:r>
            <a:endParaRPr lang="en-US" sz="2000" dirty="0">
              <a:latin typeface="DM Sans Semi Bold" panose="020B060402020202020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419225" y="2066702"/>
            <a:ext cx="12475250" cy="33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  <a:buSzPct val="100000"/>
            </a:pPr>
            <a:r>
              <a:rPr lang="en-US" sz="1600" dirty="0">
                <a:latin typeface="Inter Medium" panose="020B0604020202020204" charset="0"/>
                <a:ea typeface="Inter Medium" panose="020B0604020202020204" charset="0"/>
              </a:rPr>
              <a:t>Allow users to schedule recurring payments and transfers.</a:t>
            </a:r>
          </a:p>
        </p:txBody>
      </p:sp>
      <p:sp>
        <p:nvSpPr>
          <p:cNvPr id="7" name="Shape 5"/>
          <p:cNvSpPr/>
          <p:nvPr/>
        </p:nvSpPr>
        <p:spPr>
          <a:xfrm>
            <a:off x="735925" y="2939534"/>
            <a:ext cx="473035" cy="473035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814685" y="2978884"/>
            <a:ext cx="315397" cy="394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2</a:t>
            </a:r>
            <a:endParaRPr lang="en-US" sz="2450" dirty="0"/>
          </a:p>
        </p:txBody>
      </p:sp>
      <p:sp>
        <p:nvSpPr>
          <p:cNvPr id="9" name="Text 7"/>
          <p:cNvSpPr/>
          <p:nvPr/>
        </p:nvSpPr>
        <p:spPr>
          <a:xfrm>
            <a:off x="1419225" y="3011805"/>
            <a:ext cx="4098012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US" sz="2000" dirty="0">
                <a:latin typeface="DM Sans Semi Bold" panose="020B0604020202020204" charset="0"/>
              </a:rPr>
              <a:t>Transaction Categorization</a:t>
            </a:r>
          </a:p>
        </p:txBody>
      </p:sp>
      <p:sp>
        <p:nvSpPr>
          <p:cNvPr id="10" name="Text 8"/>
          <p:cNvSpPr/>
          <p:nvPr/>
        </p:nvSpPr>
        <p:spPr>
          <a:xfrm>
            <a:off x="1419225" y="3466505"/>
            <a:ext cx="12475250" cy="33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00"/>
              </a:lnSpc>
            </a:pPr>
            <a:r>
              <a:rPr lang="en-US" sz="1600" dirty="0">
                <a:latin typeface="Inter Medium" panose="020B0604020202020204" charset="0"/>
                <a:ea typeface="Inter Medium" panose="020B0604020202020204" charset="0"/>
              </a:rPr>
              <a:t>Automatic categorization of expenses for better financial tracking.</a:t>
            </a:r>
          </a:p>
        </p:txBody>
      </p:sp>
      <p:sp>
        <p:nvSpPr>
          <p:cNvPr id="18" name="Text 16"/>
          <p:cNvSpPr/>
          <p:nvPr/>
        </p:nvSpPr>
        <p:spPr>
          <a:xfrm>
            <a:off x="1419225" y="6034207"/>
            <a:ext cx="12475250" cy="33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814685" y="7207024"/>
            <a:ext cx="12475250" cy="33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endParaRPr lang="en-US" sz="1650" dirty="0"/>
          </a:p>
        </p:txBody>
      </p:sp>
      <p:sp>
        <p:nvSpPr>
          <p:cNvPr id="39" name="Shape 5">
            <a:extLst>
              <a:ext uri="{FF2B5EF4-FFF2-40B4-BE49-F238E27FC236}">
                <a16:creationId xmlns:a16="http://schemas.microsoft.com/office/drawing/2014/main" id="{BE3AF3FA-A93F-0EFA-DEE4-5C1B2B797CFB}"/>
              </a:ext>
            </a:extLst>
          </p:cNvPr>
          <p:cNvSpPr/>
          <p:nvPr/>
        </p:nvSpPr>
        <p:spPr>
          <a:xfrm>
            <a:off x="735925" y="4362212"/>
            <a:ext cx="473035" cy="473035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r>
              <a:rPr lang="en-IN" dirty="0"/>
              <a:t> 3</a:t>
            </a:r>
          </a:p>
        </p:txBody>
      </p:sp>
      <p:sp>
        <p:nvSpPr>
          <p:cNvPr id="40" name="Text 7">
            <a:extLst>
              <a:ext uri="{FF2B5EF4-FFF2-40B4-BE49-F238E27FC236}">
                <a16:creationId xmlns:a16="http://schemas.microsoft.com/office/drawing/2014/main" id="{89445EC8-A4D1-155B-766C-FDE67C9C2936}"/>
              </a:ext>
            </a:extLst>
          </p:cNvPr>
          <p:cNvSpPr/>
          <p:nvPr/>
        </p:nvSpPr>
        <p:spPr>
          <a:xfrm>
            <a:off x="1419225" y="4434483"/>
            <a:ext cx="4098012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  <a:buSzPct val="100000"/>
            </a:pPr>
            <a:r>
              <a:rPr lang="en-US" sz="2000" dirty="0">
                <a:latin typeface="DM Sans Semi Bold" panose="020B0604020202020204" charset="0"/>
              </a:rPr>
              <a:t>Release on IOS, Desktop platform</a:t>
            </a:r>
          </a:p>
        </p:txBody>
      </p:sp>
      <p:sp>
        <p:nvSpPr>
          <p:cNvPr id="41" name="Text 8">
            <a:extLst>
              <a:ext uri="{FF2B5EF4-FFF2-40B4-BE49-F238E27FC236}">
                <a16:creationId xmlns:a16="http://schemas.microsoft.com/office/drawing/2014/main" id="{0496A6A2-DB75-F0D3-42D9-A6566FF162D7}"/>
              </a:ext>
            </a:extLst>
          </p:cNvPr>
          <p:cNvSpPr/>
          <p:nvPr/>
        </p:nvSpPr>
        <p:spPr>
          <a:xfrm>
            <a:off x="1419225" y="4889183"/>
            <a:ext cx="12475250" cy="33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endParaRPr lang="en-US" sz="1650" dirty="0">
              <a:solidFill>
                <a:srgbClr val="464646"/>
              </a:solidFill>
              <a:latin typeface="Inter Medium" pitchFamily="34" charset="0"/>
              <a:ea typeface="Inter Medium" pitchFamily="34" charset="-122"/>
              <a:cs typeface="Inter Medium" pitchFamily="34" charset="-12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10439" y="2834640"/>
            <a:ext cx="11409402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7700"/>
              </a:lnSpc>
            </a:pPr>
            <a:r>
              <a:rPr lang="en-IN" sz="6600" dirty="0"/>
              <a:t>Grateful for the Opportunity</a:t>
            </a:r>
            <a:endParaRPr lang="en-US" sz="6150" dirty="0"/>
          </a:p>
        </p:txBody>
      </p:sp>
      <p:sp>
        <p:nvSpPr>
          <p:cNvPr id="3" name="Text 1"/>
          <p:cNvSpPr/>
          <p:nvPr/>
        </p:nvSpPr>
        <p:spPr>
          <a:xfrm>
            <a:off x="793790" y="426648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vl="1" algn="ctr">
              <a:lnSpc>
                <a:spcPts val="2850"/>
              </a:lnSpc>
            </a:pPr>
            <a:r>
              <a:rPr lang="en-US" sz="1750" dirty="0">
                <a:latin typeface="Inter Medium" panose="020B0604020202020204" charset="0"/>
                <a:ea typeface="Inter Medium" panose="020B0604020202020204" charset="0"/>
              </a:rPr>
              <a:t>I sincerely thank the Mifos Initiative and my mentors for their unwavering support and guidance.</a:t>
            </a:r>
            <a:br>
              <a:rPr lang="en-US" sz="1750" dirty="0">
                <a:latin typeface="Inter Medium" panose="020B0604020202020204" charset="0"/>
                <a:ea typeface="Inter Medium" panose="020B0604020202020204" charset="0"/>
              </a:rPr>
            </a:br>
            <a:endParaRPr lang="en-US" sz="175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167414" y="4969550"/>
            <a:ext cx="10295453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3300"/>
              </a:lnSpc>
            </a:pPr>
            <a:r>
              <a:rPr lang="en-US" sz="2800" dirty="0"/>
              <a:t>🙏 Looking forward to continuing this journey and making meaningful contributions ahead!</a:t>
            </a:r>
            <a:endParaRPr lang="en-US" sz="2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376</TotalTime>
  <Words>814</Words>
  <Application>Microsoft Office PowerPoint</Application>
  <PresentationFormat>Custom</PresentationFormat>
  <Paragraphs>174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Calibri</vt:lpstr>
      <vt:lpstr>Inter Medium</vt:lpstr>
      <vt:lpstr>Roboto Medium</vt:lpstr>
      <vt:lpstr>DM Sans Semi Bold</vt:lpstr>
      <vt:lpstr>Calibri Light</vt:lpstr>
      <vt:lpstr>Roboto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Revanth J</dc:creator>
  <cp:lastModifiedBy>Banda Nagarjuna</cp:lastModifiedBy>
  <cp:revision>7</cp:revision>
  <dcterms:created xsi:type="dcterms:W3CDTF">2025-07-27T13:59:58Z</dcterms:created>
  <dcterms:modified xsi:type="dcterms:W3CDTF">2025-07-31T06:54:45Z</dcterms:modified>
</cp:coreProperties>
</file>